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5aeb74438e44d4" /><Relationship Type="http://schemas.openxmlformats.org/officeDocument/2006/relationships/extended-properties" Target="/docProps/app.xml" Id="Re5432d96bc7f456e" /><Relationship Type="http://schemas.openxmlformats.org/officeDocument/2006/relationships/officeDocument" Target="/ppt/presentation.xml" Id="R00759442530b4d31" /></Relationships>
</file>

<file path=ppt/presentation.xml><?xml version="1.0" encoding="utf-8"?>
<p:presentation xmlns:p="http://schemas.openxmlformats.org/presentationml/2006/main">
  <p:sldMasterIdLst>
    <p:sldMasterId xmlns:r="http://schemas.openxmlformats.org/officeDocument/2006/relationships" id="2147483648" r:id="Rf44f25d1934e4efe"/>
  </p:sldMasterIdLst>
  <p:notesMasterIdLst>
    <p:notesMasterId xmlns:r="http://schemas.openxmlformats.org/officeDocument/2006/relationships" r:id="R4b1c52da3f7b412f"/>
  </p:notesMasterIdLst>
  <p:sldIdLst>
    <p:sldId xmlns:r="http://schemas.openxmlformats.org/officeDocument/2006/relationships" id="256" r:id="R13a9b22ad01a4b20"/>
    <p:sldId xmlns:r="http://schemas.openxmlformats.org/officeDocument/2006/relationships" id="257" r:id="R974ad71ff32d4ad9"/>
    <p:sldId xmlns:r="http://schemas.openxmlformats.org/officeDocument/2006/relationships" id="258" r:id="R615c324f39224bb5"/>
    <p:sldId xmlns:r="http://schemas.openxmlformats.org/officeDocument/2006/relationships" id="259" r:id="R0f80630cc6104ddf"/>
    <p:sldId xmlns:r="http://schemas.openxmlformats.org/officeDocument/2006/relationships" id="260" r:id="R0eace3bc2ad246e1"/>
    <p:sldId xmlns:r="http://schemas.openxmlformats.org/officeDocument/2006/relationships" id="261" r:id="R495a8a8a50b54edd"/>
    <p:sldId xmlns:r="http://schemas.openxmlformats.org/officeDocument/2006/relationships" id="262" r:id="Rda0a09240f6b482b"/>
    <p:sldId xmlns:r="http://schemas.openxmlformats.org/officeDocument/2006/relationships" id="263" r:id="Ra3e7dc05514e479f"/>
    <p:sldId xmlns:r="http://schemas.openxmlformats.org/officeDocument/2006/relationships" id="264" r:id="R06a4e6c1248e42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5ff3aea62d4961" /><Relationship Type="http://schemas.openxmlformats.org/officeDocument/2006/relationships/slideMaster" Target="/ppt/slideMasters/slideMaster1.xml" Id="Rf44f25d1934e4efe" /><Relationship Type="http://schemas.openxmlformats.org/officeDocument/2006/relationships/notesMaster" Target="/ppt/notesMasters/notesMaster1.xml" Id="R4b1c52da3f7b412f" /><Relationship Type="http://schemas.openxmlformats.org/officeDocument/2006/relationships/presProps" Target="/ppt/presProps.xml" Id="R0ff1f23a5426408f" /><Relationship Type="http://schemas.openxmlformats.org/officeDocument/2006/relationships/tableStyles" Target="/ppt/tableStyles.xml" Id="Rce3baf4f68a241aa" /><Relationship Type="http://schemas.openxmlformats.org/officeDocument/2006/relationships/slide" Target="/ppt/slides/slide1.xml" Id="R13a9b22ad01a4b20" /><Relationship Type="http://schemas.openxmlformats.org/officeDocument/2006/relationships/slide" Target="/ppt/slides/slide2.xml" Id="R974ad71ff32d4ad9" /><Relationship Type="http://schemas.openxmlformats.org/officeDocument/2006/relationships/slide" Target="/ppt/slides/slide3.xml" Id="R615c324f39224bb5" /><Relationship Type="http://schemas.openxmlformats.org/officeDocument/2006/relationships/slide" Target="/ppt/slides/slide4.xml" Id="R0f80630cc6104ddf" /><Relationship Type="http://schemas.openxmlformats.org/officeDocument/2006/relationships/slide" Target="/ppt/slides/slide5.xml" Id="R0eace3bc2ad246e1" /><Relationship Type="http://schemas.openxmlformats.org/officeDocument/2006/relationships/slide" Target="/ppt/slides/slide6.xml" Id="R495a8a8a50b54edd" /><Relationship Type="http://schemas.openxmlformats.org/officeDocument/2006/relationships/slide" Target="/ppt/slides/slide7.xml" Id="Rda0a09240f6b482b" /><Relationship Type="http://schemas.openxmlformats.org/officeDocument/2006/relationships/slide" Target="/ppt/slides/slide8.xml" Id="Ra3e7dc05514e479f" /><Relationship Type="http://schemas.openxmlformats.org/officeDocument/2006/relationships/slide" Target="/ppt/slides/slide9.xml" Id="R06a4e6c1248e42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49e13320ce4a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497cd6f400452b" /><Relationship Type="http://schemas.openxmlformats.org/officeDocument/2006/relationships/notesMaster" Target="/ppt/notesMasters/notesMaster1.xml" Id="R3c30e957f63a41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e037f3bc446a0" /><Relationship Type="http://schemas.openxmlformats.org/officeDocument/2006/relationships/notesMaster" Target="/ppt/notesMasters/notesMaster1.xml" Id="R5970c081ed284f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4de8ef82b746e4" /><Relationship Type="http://schemas.openxmlformats.org/officeDocument/2006/relationships/notesMaster" Target="/ppt/notesMasters/notesMaster1.xml" Id="Rba7c05c0c0d34d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066edc5834d25" /><Relationship Type="http://schemas.openxmlformats.org/officeDocument/2006/relationships/notesMaster" Target="/ppt/notesMasters/notesMaster1.xml" Id="R1cb4dda88bc946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123e035253421b" /><Relationship Type="http://schemas.openxmlformats.org/officeDocument/2006/relationships/notesMaster" Target="/ppt/notesMasters/notesMaster1.xml" Id="Raf7b0de8f9874a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aef4f81c574918" /><Relationship Type="http://schemas.openxmlformats.org/officeDocument/2006/relationships/notesMaster" Target="/ppt/notesMasters/notesMaster1.xml" Id="R748c6d369edf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5ef28fde0442a1" /><Relationship Type="http://schemas.openxmlformats.org/officeDocument/2006/relationships/notesMaster" Target="/ppt/notesMasters/notesMaster1.xml" Id="Rc7f74c727b6944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fc899a58544f36" /><Relationship Type="http://schemas.openxmlformats.org/officeDocument/2006/relationships/notesMaster" Target="/ppt/notesMasters/notesMaster1.xml" Id="Re6bb79918d5340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14202c784d4fa3" /><Relationship Type="http://schemas.openxmlformats.org/officeDocument/2006/relationships/notesMaster" Target="/ppt/notesMasters/notesMaster1.xml" Id="R1f7405f2434d4f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Created by Shivam Gupta for IBM Bob 2.0 Hackathon. Product description and scope: docs/BUILD-BRIEF.md. No claims of production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synthetic scenario implemented in the sample release contracts, not a report of an actual customer incident. The snapshot restoration path can execute successfully while discarding rows inserted after the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and scope follow docs/BUILD-BRIEF.md. PGlite runs PostgreSQL in WebAssembly: https://pglite.dev/docs/about. These are SQL query contracts, not a full application process. Independent branches isolate expected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running-product screenshot: submission/media/data-loss-modal.png. Original synthetic checkout scenario. Genuine element screenshot of the evidence modal. Result: four rows before rollback, three afterward. The invariant selects id, customer and total_cents. This screenshot is separate from the CLI measurements on the following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submission/cli-blocked-report.json and submission/cli-repaired-report.json, generated September 27, 2026. One measured engine invocation per condition, Darwin arm64, Node.js 22.16.0, PGlite 0.3.16. Duration excludes installation, CLI startup, contract authoring, review and repair preparation. Exact synthetic invariant projection; no general productivity claim. Reproduction: npm run rehearse -- demo:snapshot --out=blocked.json ; npm run rehearse -- demo:snapshot --repair --out=repaired.json.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 IDE authored tests/bob-workflow.test.ts and ran all 41 tests successfully using real PGlite. The tests inspect source-derived checkout contracts, lost post-deployment order 204, the safe candidate and invariant identity. This is a scoped testing contribution, not a claim that Bob built the entire product. A genuine Bob work capture is retained in submission/media/bob-verification-work.png. The required task consumption summary is a separate deliverable. New custom repair investigations use the manual exported evidence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hypotheses, not customers, revenue, or validated pricing. Details and validation plan: submission/COMMERCIAL.md. Proposed paid features may exceed the current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27, 2026: https://www.atlasgo.io/versioned/down ; https://docs.liquibase.com/secure/reference-guide-5-1-1/init-update-and-rollback-commands/update-testing-rollback ; https://www.red-gate.com/products/flyway/ ; https://github.com/ankane/strong_migrations . PGlite limits: https://pglite.dev/docs/pglite-socket . No claim of exclusive capability or production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hosted application: https://undoproof.web.app . Public repository: https://github.com/shi1720/ibm-bob . Created by Shivam Gupta with AI-assisted development. Firebase Authentication and Firestore support private account history. Guest SQL runs locally in the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8f71ed94c84e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79a9d901d94afc" /><Relationship Type="http://schemas.openxmlformats.org/officeDocument/2006/relationships/slideLayout" Target="/ppt/slideLayouts/slideLayout1.xml" Id="R62984c9ddd2348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984c9ddd2348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8e2fabede4a6b" /><Relationship Type="http://schemas.openxmlformats.org/officeDocument/2006/relationships/notesSlide" Target="/ppt/notesSlides/notesSlide1.xml" Id="Rf4a556251bb448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fb588d7ce74b91" /><Relationship Type="http://schemas.openxmlformats.org/officeDocument/2006/relationships/notesSlide" Target="/ppt/notesSlides/notesSlide2.xml" Id="Rd45d6700510545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690bae70fa4a9d" /><Relationship Type="http://schemas.openxmlformats.org/officeDocument/2006/relationships/notesSlide" Target="/ppt/notesSlides/notesSlide3.xml" Id="Rbc1900fcc68445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c6c9512d0c4ad7" /><Relationship Type="http://schemas.openxmlformats.org/officeDocument/2006/relationships/image" Target="/ppt/media/image.png" Id="R9b7744e9c3df458b" /><Relationship Type="http://schemas.openxmlformats.org/officeDocument/2006/relationships/notesSlide" Target="/ppt/notesSlides/notesSlide4.xml" Id="R2b6524692dec49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307032e6bd40d4" /><Relationship Type="http://schemas.openxmlformats.org/officeDocument/2006/relationships/notesSlide" Target="/ppt/notesSlides/notesSlide5.xml" Id="Rc1f89f3b231441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a983428f2840ed" /><Relationship Type="http://schemas.openxmlformats.org/officeDocument/2006/relationships/notesSlide" Target="/ppt/notesSlides/notesSlide6.xml" Id="Rc2456c0545714e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5833408da0408d" /><Relationship Type="http://schemas.openxmlformats.org/officeDocument/2006/relationships/notesSlide" Target="/ppt/notesSlides/notesSlide7.xml" Id="R0cdf98a5f87e49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b983a4ec854ab8" /><Relationship Type="http://schemas.openxmlformats.org/officeDocument/2006/relationships/notesSlide" Target="/ppt/notesSlides/notesSlide8.xml" Id="Rca0e00ff77e346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0895b317934a67" /><Relationship Type="http://schemas.openxmlformats.org/officeDocument/2006/relationships/notesSlide" Target="/ppt/notesSlides/notesSlide9.xml" Id="R1e2d591678674cb9" /></Relationships>
</file>

<file path=ppt/slides/slide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899557D-7610-4CA2-9B73-83DC239B0299}"/>
              </a:ext>
            </a:extLst>
          </p:cNvPr>
          <p:cNvSpPr>
            <a:spLocks xmlns:a="http://schemas.openxmlformats.org/drawingml/2006/main" noGrp="1"/>
          </p:cNvSpPr>
          <p:nvPr/>
        </p:nvSpPr>
        <p:spPr>
          <a:xfrm xmlns:a="http://schemas.openxmlformats.org/drawingml/2006/main">
            <a:off x="647700" y="13716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25251F"/>
                </a:solidFill>
                <a:latin typeface="Helvetica Neue"/>
                <a:ea typeface="Helvetica Neue"/>
                <a:cs typeface="Helvetica Neue"/>
              </a:defRPr>
            </a:pPr>
            <a:r>
              <a:rPr sz="7800" b="1">
                <a:solidFill>
                  <a:srgbClr val="25251F"/>
                </a:solidFill>
                <a:latin typeface="Helvetica Neue"/>
                <a:ea typeface="Helvetica Neue"/>
                <a:cs typeface="Helvetica Neue"/>
              </a:rPr>
              <a:t>UndoProof</a:t>
            </a:r>
          </a:p>
        </p:txBody>
      </p:sp>
      <p:sp>
        <p:nvSpPr>
          <p:cNvPr id="2" name="text-1">
            <a:extLst xmlns:a="http://schemas.openxmlformats.org/drawingml/2006/main">
              <a:ext uri="{FF2B5EF4-FFF2-40B4-BE49-F238E27FC236}">
                <a16:creationId xmlns:a16="http://schemas.microsoft.com/office/drawing/2014/main" id="{0AEC1FD5-4BAF-4F60-A104-ECEE0483F503}"/>
              </a:ext>
            </a:extLst>
          </p:cNvPr>
          <p:cNvSpPr>
            <a:spLocks xmlns:a="http://schemas.openxmlformats.org/drawingml/2006/main" noGrp="1"/>
          </p:cNvSpPr>
          <p:nvPr/>
        </p:nvSpPr>
        <p:spPr>
          <a:xfrm xmlns:a="http://schemas.openxmlformats.org/drawingml/2006/main">
            <a:off x="685800" y="2724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DE4F2A"/>
                </a:solidFill>
                <a:latin typeface="Helvetica Neue"/>
                <a:ea typeface="Helvetica Neue"/>
                <a:cs typeface="Helvetica Neue"/>
              </a:defRPr>
            </a:pPr>
            <a:r>
              <a:rPr sz="4050" b="0">
                <a:solidFill>
                  <a:srgbClr val="DE4F2A"/>
                </a:solidFill>
                <a:latin typeface="Helvetica Neue"/>
                <a:ea typeface="Helvetica Neue"/>
                <a:cs typeface="Helvetica Neue"/>
              </a:rPr>
              <a:t>Prove the way back</a:t>
            </a:r>
          </a:p>
        </p:txBody>
      </p:sp>
      <p:sp>
        <p:nvSpPr>
          <p:cNvPr id="3" name="text-2">
            <a:extLst xmlns:a="http://schemas.openxmlformats.org/drawingml/2006/main">
              <a:ext uri="{FF2B5EF4-FFF2-40B4-BE49-F238E27FC236}">
                <a16:creationId xmlns:a16="http://schemas.microsoft.com/office/drawing/2014/main" id="{A14F8EAB-B9FF-43BF-BB8E-63CEBB26A209}"/>
              </a:ext>
            </a:extLst>
          </p:cNvPr>
          <p:cNvSpPr>
            <a:spLocks xmlns:a="http://schemas.openxmlformats.org/drawingml/2006/main" noGrp="1"/>
          </p:cNvSpPr>
          <p:nvPr/>
        </p:nvSpPr>
        <p:spPr>
          <a:xfrm xmlns:a="http://schemas.openxmlformats.org/drawingml/2006/main">
            <a:off x="714375" y="39052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5665E"/>
                </a:solidFill>
                <a:latin typeface="Helvetica Neue"/>
                <a:ea typeface="Helvetica Neue"/>
                <a:cs typeface="Helvetica Neue"/>
              </a:defRPr>
            </a:pPr>
            <a:r>
              <a:rPr sz="2250" b="0">
                <a:solidFill>
                  <a:srgbClr val="65665E"/>
                </a:solidFill>
                <a:latin typeface="Helvetica Neue"/>
                <a:ea typeface="Helvetica Neue"/>
                <a:cs typeface="Helvetica Neue"/>
              </a:rPr>
              <a:t>PostgreSQL rollback rehearsal</a:t>
            </a:r>
          </a:p>
        </p:txBody>
      </p:sp>
      <p:sp>
        <p:nvSpPr>
          <p:cNvPr id="4" name="text-3">
            <a:extLst xmlns:a="http://schemas.openxmlformats.org/drawingml/2006/main">
              <a:ext uri="{FF2B5EF4-FFF2-40B4-BE49-F238E27FC236}">
                <a16:creationId xmlns:a16="http://schemas.microsoft.com/office/drawing/2014/main" id="{04C843DC-5198-470C-98F7-2FA95A8E9FFA}"/>
              </a:ext>
            </a:extLst>
          </p:cNvPr>
          <p:cNvSpPr>
            <a:spLocks xmlns:a="http://schemas.openxmlformats.org/drawingml/2006/main" noGrp="1"/>
          </p:cNvSpPr>
          <p:nvPr/>
        </p:nvSpPr>
        <p:spPr>
          <a:xfrm xmlns:a="http://schemas.openxmlformats.org/drawingml/2006/main">
            <a:off x="714375" y="54197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251F"/>
                </a:solidFill>
                <a:latin typeface="Helvetica Neue"/>
                <a:ea typeface="Helvetica Neue"/>
                <a:cs typeface="Helvetica Neue"/>
              </a:defRPr>
            </a:pPr>
            <a:r>
              <a:rPr sz="2100" b="1">
                <a:solidFill>
                  <a:srgbClr val="25251F"/>
                </a:solidFill>
                <a:latin typeface="Helvetica Neue"/>
                <a:ea typeface="Helvetica Neue"/>
                <a:cs typeface="Helvetica Neue"/>
              </a:rPr>
              <a:t>Shivam Gupta</a:t>
            </a:r>
          </a:p>
        </p:txBody>
      </p:sp>
      <p:sp>
        <p:nvSpPr>
          <p:cNvPr id="5" name="text-4">
            <a:extLst xmlns:a="http://schemas.openxmlformats.org/drawingml/2006/main">
              <a:ext uri="{FF2B5EF4-FFF2-40B4-BE49-F238E27FC236}">
                <a16:creationId xmlns:a16="http://schemas.microsoft.com/office/drawing/2014/main" id="{83747DA8-1215-4D90-BF17-0C998E7FBF7F}"/>
              </a:ext>
            </a:extLst>
          </p:cNvPr>
          <p:cNvSpPr>
            <a:spLocks xmlns:a="http://schemas.openxmlformats.org/drawingml/2006/main" noGrp="1"/>
          </p:cNvSpPr>
          <p:nvPr/>
        </p:nvSpPr>
        <p:spPr>
          <a:xfrm xmlns:a="http://schemas.openxmlformats.org/drawingml/2006/main">
            <a:off x="714375" y="587692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65E"/>
                </a:solidFill>
                <a:latin typeface="Helvetica Neue"/>
                <a:ea typeface="Helvetica Neue"/>
                <a:cs typeface="Helvetica Neue"/>
              </a:defRPr>
            </a:pPr>
            <a:r>
              <a:rPr sz="1500" b="0">
                <a:solidFill>
                  <a:srgbClr val="65665E"/>
                </a:solidFill>
                <a:latin typeface="Helvetica Neue"/>
                <a:ea typeface="Helvetica Neue"/>
                <a:cs typeface="Helvetica Neue"/>
              </a:rPr>
              <a:t>IBM Bob 2.0 Hackathon  /  September 2026</a:t>
            </a:r>
          </a:p>
        </p:txBody>
      </p:sp>
    </p:spTree>
    <p:extLst>
      <p:ext uri="{BB962C8B-B14F-4D97-AF65-F5344CB8AC3E}">
        <p14:creationId xmlns:p14="http://schemas.microsoft.com/office/powerpoint/2010/main" val="151184110"/>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text-5">
            <a:extLst xmlns:a="http://schemas.openxmlformats.org/drawingml/2006/main">
              <a:ext uri="{FF2B5EF4-FFF2-40B4-BE49-F238E27FC236}">
                <a16:creationId xmlns:a16="http://schemas.microsoft.com/office/drawing/2014/main" id="{F03FA6E0-CDC2-474C-B754-A165655D0FFC}"/>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The order that disappears</a:t>
            </a:r>
          </a:p>
        </p:txBody>
      </p:sp>
      <p:sp>
        <p:nvSpPr>
          <p:cNvPr id="2" name="text-6">
            <a:extLst xmlns:a="http://schemas.openxmlformats.org/drawingml/2006/main">
              <a:ext uri="{FF2B5EF4-FFF2-40B4-BE49-F238E27FC236}">
                <a16:creationId xmlns:a16="http://schemas.microsoft.com/office/drawing/2014/main" id="{68A586C6-2D53-49EE-9CD1-105BFEB9FE57}"/>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02</a:t>
            </a:r>
          </a:p>
        </p:txBody>
      </p:sp>
      <p:sp>
        <p:nvSpPr>
          <p:cNvPr id="3" name="text-7">
            <a:extLst xmlns:a="http://schemas.openxmlformats.org/drawingml/2006/main">
              <a:ext uri="{FF2B5EF4-FFF2-40B4-BE49-F238E27FC236}">
                <a16:creationId xmlns:a16="http://schemas.microsoft.com/office/drawing/2014/main" id="{808C1D97-F6C5-4410-8B69-9E947232F9A1}"/>
              </a:ext>
            </a:extLst>
          </p:cNvPr>
          <p:cNvSpPr>
            <a:spLocks xmlns:a="http://schemas.openxmlformats.org/drawingml/2006/main" noGrp="1"/>
          </p:cNvSpPr>
          <p:nvPr/>
        </p:nvSpPr>
        <p:spPr>
          <a:xfrm xmlns:a="http://schemas.openxmlformats.org/drawingml/2006/main">
            <a:off x="704850" y="20097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25251F"/>
                </a:solidFill>
                <a:latin typeface="Helvetica Neue"/>
                <a:ea typeface="Helvetica Neue"/>
                <a:cs typeface="Helvetica Neue"/>
              </a:defRPr>
            </a:pPr>
            <a:r>
              <a:rPr sz="3825" b="0">
                <a:solidFill>
                  <a:srgbClr val="25251F"/>
                </a:solidFill>
                <a:latin typeface="Helvetica Neue"/>
                <a:ea typeface="Helvetica Neue"/>
                <a:cs typeface="Helvetica Neue"/>
              </a:rPr>
              <a:t>The release succeeds.</a:t>
            </a:r>
          </a:p>
        </p:txBody>
      </p:sp>
      <p:sp>
        <p:nvSpPr>
          <p:cNvPr id="4" name="text-8">
            <a:extLst xmlns:a="http://schemas.openxmlformats.org/drawingml/2006/main">
              <a:ext uri="{FF2B5EF4-FFF2-40B4-BE49-F238E27FC236}">
                <a16:creationId xmlns:a16="http://schemas.microsoft.com/office/drawing/2014/main" id="{33CB58A0-1F41-459A-9B0F-A06ACAE10ED6}"/>
              </a:ext>
            </a:extLst>
          </p:cNvPr>
          <p:cNvSpPr>
            <a:spLocks xmlns:a="http://schemas.openxmlformats.org/drawingml/2006/main" noGrp="1"/>
          </p:cNvSpPr>
          <p:nvPr/>
        </p:nvSpPr>
        <p:spPr>
          <a:xfrm xmlns:a="http://schemas.openxmlformats.org/drawingml/2006/main">
            <a:off x="704850" y="29432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25251F"/>
                </a:solidFill>
                <a:latin typeface="Helvetica Neue"/>
                <a:ea typeface="Helvetica Neue"/>
                <a:cs typeface="Helvetica Neue"/>
              </a:defRPr>
            </a:pPr>
            <a:r>
              <a:rPr sz="3825" b="0">
                <a:solidFill>
                  <a:srgbClr val="25251F"/>
                </a:solidFill>
                <a:latin typeface="Helvetica Neue"/>
                <a:ea typeface="Helvetica Neue"/>
                <a:cs typeface="Helvetica Neue"/>
              </a:rPr>
              <a:t>A customer places an order.</a:t>
            </a:r>
          </a:p>
        </p:txBody>
      </p:sp>
      <p:sp>
        <p:nvSpPr>
          <p:cNvPr id="5" name="text-9">
            <a:extLst xmlns:a="http://schemas.openxmlformats.org/drawingml/2006/main">
              <a:ext uri="{FF2B5EF4-FFF2-40B4-BE49-F238E27FC236}">
                <a16:creationId xmlns:a16="http://schemas.microsoft.com/office/drawing/2014/main" id="{7F7BB814-62B2-46C4-AB6F-7E6956A7B7B6}"/>
              </a:ext>
            </a:extLst>
          </p:cNvPr>
          <p:cNvSpPr>
            <a:spLocks xmlns:a="http://schemas.openxmlformats.org/drawingml/2006/main" noGrp="1"/>
          </p:cNvSpPr>
          <p:nvPr/>
        </p:nvSpPr>
        <p:spPr>
          <a:xfrm xmlns:a="http://schemas.openxmlformats.org/drawingml/2006/main">
            <a:off x="704850" y="38766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DE4F2A"/>
                </a:solidFill>
                <a:latin typeface="Helvetica Neue"/>
                <a:ea typeface="Helvetica Neue"/>
                <a:cs typeface="Helvetica Neue"/>
              </a:defRPr>
            </a:pPr>
            <a:r>
              <a:rPr sz="3825" b="1">
                <a:solidFill>
                  <a:srgbClr val="DE4F2A"/>
                </a:solidFill>
                <a:latin typeface="Helvetica Neue"/>
                <a:ea typeface="Helvetica Neue"/>
                <a:cs typeface="Helvetica Neue"/>
              </a:rPr>
              <a:t>The rollback erases it.</a:t>
            </a:r>
          </a:p>
        </p:txBody>
      </p:sp>
      <p:sp>
        <p:nvSpPr>
          <p:cNvPr id="6" name="text-10">
            <a:extLst xmlns:a="http://schemas.openxmlformats.org/drawingml/2006/main">
              <a:ext uri="{FF2B5EF4-FFF2-40B4-BE49-F238E27FC236}">
                <a16:creationId xmlns:a16="http://schemas.microsoft.com/office/drawing/2014/main" id="{3F46F816-A487-494B-A9FD-DEF99FCB9976}"/>
              </a:ext>
            </a:extLst>
          </p:cNvPr>
          <p:cNvSpPr>
            <a:spLocks xmlns:a="http://schemas.openxmlformats.org/drawingml/2006/main" noGrp="1"/>
          </p:cNvSpPr>
          <p:nvPr/>
        </p:nvSpPr>
        <p:spPr>
          <a:xfrm xmlns:a="http://schemas.openxmlformats.org/drawingml/2006/main">
            <a:off x="733425" y="52578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5665E"/>
                </a:solidFill>
                <a:latin typeface="Helvetica Neue"/>
                <a:ea typeface="Helvetica Neue"/>
                <a:cs typeface="Helvetica Neue"/>
              </a:defRPr>
            </a:pPr>
            <a:r>
              <a:rPr sz="2250" b="0">
                <a:solidFill>
                  <a:srgbClr val="65665E"/>
                </a:solidFill>
                <a:latin typeface="Helvetica Neue"/>
                <a:ea typeface="Helvetica Neue"/>
                <a:cs typeface="Helvetica Neue"/>
              </a:rPr>
              <a:t>SQL success does not establish data preservation.</a:t>
            </a:r>
          </a:p>
        </p:txBody>
      </p:sp>
    </p:spTree>
    <p:extLst>
      <p:ext uri="{BB962C8B-B14F-4D97-AF65-F5344CB8AC3E}">
        <p14:creationId xmlns:p14="http://schemas.microsoft.com/office/powerpoint/2010/main" val="1806502344"/>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text-11">
            <a:extLst xmlns:a="http://schemas.openxmlformats.org/drawingml/2006/main">
              <a:ext uri="{FF2B5EF4-FFF2-40B4-BE49-F238E27FC236}">
                <a16:creationId xmlns:a16="http://schemas.microsoft.com/office/drawing/2014/main" id="{41FEBDA6-2A16-408F-BE58-A3D2EBFA62E7}"/>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A release contract, executed</a:t>
            </a:r>
          </a:p>
        </p:txBody>
      </p:sp>
      <p:sp>
        <p:nvSpPr>
          <p:cNvPr id="2" name="text-12">
            <a:extLst xmlns:a="http://schemas.openxmlformats.org/drawingml/2006/main">
              <a:ext uri="{FF2B5EF4-FFF2-40B4-BE49-F238E27FC236}">
                <a16:creationId xmlns:a16="http://schemas.microsoft.com/office/drawing/2014/main" id="{0F639676-59D5-42AF-AF9F-FEB5B3572A02}"/>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03</a:t>
            </a:r>
          </a:p>
        </p:txBody>
      </p:sp>
      <p:graphicFrame>
        <p:nvGraphicFramePr>
          <p:cNvPr id="7" name=""/>
          <p:cNvGraphicFramePr/>
          <p:nvPr/>
        </p:nvGraphicFramePr>
        <p:xfrm>
          <a:off xmlns:a="http://schemas.openxmlformats.org/drawingml/2006/main" x="704850" y="1924050"/>
          <a:ext xmlns:a="http://schemas.openxmlformats.org/drawingml/2006/main" cx="10782300" cy="3067050"/>
        </p:xfrm>
        <a:graphic xmlns:a="http://schemas.openxmlformats.org/drawingml/2006/main">
          <a:graphicData uri="http://schemas.openxmlformats.org/drawingml/2006/table">
            <a:tbl>
              <a:tblPr/>
              <a:tblGrid>
                <a:gridCol w="3238500"/>
                <a:gridCol w="3505200"/>
                <a:gridCol w="4038600"/>
              </a:tblGrid>
              <a:tr h="766763">
                <a:tc>
                  <a:txBody>
                    <a:bodyPr/>
                    <a:lstStyle/>
                    <a:p>
                      <a:r>
                        <a:rPr sz="1725" b="1">
                          <a:solidFill>
                            <a:srgbClr val="F6F3EB"/>
                          </a:solidFill>
                          <a:latin typeface="Helvetica Neue"/>
                          <a:ea typeface="Helvetica Neue"/>
                          <a:cs typeface="Helvetica Neue"/>
                        </a:rPr>
                        <a:t>Input</a:t>
                      </a:r>
                    </a:p>
                  </a:txBody>
                  <a:tcPr marL="91440" marR="91440" marT="45720" marB="45720">
                    <a:solidFill>
                      <a:srgbClr val="25251F"/>
                    </a:solidFill>
                  </a:tcPr>
                </a:tc>
                <a:tc>
                  <a:txBody>
                    <a:bodyPr/>
                    <a:lstStyle/>
                    <a:p>
                      <a:r>
                        <a:rPr sz="1725" b="1">
                          <a:solidFill>
                            <a:srgbClr val="F6F3EB"/>
                          </a:solidFill>
                          <a:latin typeface="Helvetica Neue"/>
                          <a:ea typeface="Helvetica Neue"/>
                          <a:cs typeface="Helvetica Neue"/>
                        </a:rPr>
                        <a:t>Execution</a:t>
                      </a:r>
                    </a:p>
                  </a:txBody>
                  <a:tcPr marL="91440" marR="91440" marT="45720" marB="45720">
                    <a:solidFill>
                      <a:srgbClr val="25251F"/>
                    </a:solidFill>
                  </a:tcPr>
                </a:tc>
                <a:tc>
                  <a:txBody>
                    <a:bodyPr/>
                    <a:lstStyle/>
                    <a:p>
                      <a:r>
                        <a:rPr sz="1725" b="1">
                          <a:solidFill>
                            <a:srgbClr val="F6F3EB"/>
                          </a:solidFill>
                          <a:latin typeface="Helvetica Neue"/>
                          <a:ea typeface="Helvetica Neue"/>
                          <a:cs typeface="Helvetica Neue"/>
                        </a:rPr>
                        <a:t>Evidence</a:t>
                      </a:r>
                    </a:p>
                  </a:txBody>
                  <a:tcPr marL="91440" marR="91440" marT="45720" marB="45720">
                    <a:solidFill>
                      <a:srgbClr val="25251F"/>
                    </a:solidFill>
                  </a:tcPr>
                </a:tc>
              </a:tr>
              <a:tr h="766763">
                <a:tc>
                  <a:txBody>
                    <a:bodyPr/>
                    <a:lstStyle/>
                    <a:p>
                      <a:r>
                        <a:rPr sz="1800" b="0">
                          <a:solidFill>
                            <a:srgbClr val="25251F"/>
                          </a:solidFill>
                          <a:latin typeface="Helvetica Neue"/>
                          <a:ea typeface="Helvetica Neue"/>
                          <a:cs typeface="Helvetica Neue"/>
                        </a:rPr>
                        <a:t>Seed + migration SQL</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Fresh PGlite databases</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Exact statements and errors</a:t>
                      </a:r>
                    </a:p>
                  </a:txBody>
                  <a:tcPr marL="91440" marR="91440" marT="45720" marB="45720">
                    <a:solidFill>
                      <a:srgbClr val="F6F3EB"/>
                    </a:solidFill>
                  </a:tcPr>
                </a:tc>
              </a:tr>
              <a:tr h="766763">
                <a:tc>
                  <a:txBody>
                    <a:bodyPr/>
                    <a:lstStyle/>
                    <a:p>
                      <a:r>
                        <a:rPr sz="1800" b="0">
                          <a:solidFill>
                            <a:srgbClr val="25251F"/>
                          </a:solidFill>
                          <a:latin typeface="Helvetica Neue"/>
                          <a:ea typeface="Helvetica Neue"/>
                          <a:cs typeface="Helvetica Neue"/>
                        </a:rPr>
                        <a:t>Old + new query contracts</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Compatibility checks</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A result for each release state</a:t>
                      </a:r>
                    </a:p>
                  </a:txBody>
                  <a:tcPr marL="91440" marR="91440" marT="45720" marB="45720">
                    <a:solidFill>
                      <a:srgbClr val="F6F3EB"/>
                    </a:solidFill>
                  </a:tcPr>
                </a:tc>
              </a:tr>
              <a:tr h="766763">
                <a:tc>
                  <a:txBody>
                    <a:bodyPr/>
                    <a:lstStyle/>
                    <a:p>
                      <a:r>
                        <a:rPr sz="1800" b="0">
                          <a:solidFill>
                            <a:srgbClr val="25251F"/>
                          </a:solidFill>
                          <a:latin typeface="Helvetica Neue"/>
                          <a:ea typeface="Helvetica Neue"/>
                          <a:cs typeface="Helvetica Neue"/>
                        </a:rPr>
                        <a:t>New writes + invariant</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Rollback, compare, reapply</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Before-and-after rows</a:t>
                      </a:r>
                    </a:p>
                  </a:txBody>
                  <a:tcPr marL="91440" marR="91440" marT="45720" marB="45720">
                    <a:solidFill>
                      <a:srgbClr val="F6F3EB"/>
                    </a:solidFill>
                  </a:tcPr>
                </a:tc>
              </a:tr>
            </a:tbl>
          </a:graphicData>
        </a:graphic>
      </p:graphicFrame>
      <p:sp>
        <p:nvSpPr>
          <p:cNvPr id="4" name="text-13">
            <a:extLst xmlns:a="http://schemas.openxmlformats.org/drawingml/2006/main">
              <a:ext uri="{FF2B5EF4-FFF2-40B4-BE49-F238E27FC236}">
                <a16:creationId xmlns:a16="http://schemas.microsoft.com/office/drawing/2014/main" id="{20121852-8C35-4FA8-B554-C7739A8316D4}"/>
              </a:ext>
            </a:extLst>
          </p:cNvPr>
          <p:cNvSpPr>
            <a:spLocks xmlns:a="http://schemas.openxmlformats.org/drawingml/2006/main" noGrp="1"/>
          </p:cNvSpPr>
          <p:nvPr/>
        </p:nvSpPr>
        <p:spPr>
          <a:xfrm xmlns:a="http://schemas.openxmlformats.org/drawingml/2006/main">
            <a:off x="733425" y="5334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E4F2A"/>
                </a:solidFill>
                <a:latin typeface="Helvetica Neue"/>
                <a:ea typeface="Helvetica Neue"/>
                <a:cs typeface="Helvetica Neue"/>
              </a:defRPr>
            </a:pPr>
            <a:r>
              <a:rPr sz="2550" b="1">
                <a:solidFill>
                  <a:srgbClr val="DE4F2A"/>
                </a:solidFill>
                <a:latin typeface="Helvetica Neue"/>
                <a:ea typeface="Helvetica Neue"/>
                <a:cs typeface="Helvetica Neue"/>
              </a:rPr>
              <a:t>New writes happen before rollback.</a:t>
            </a:r>
          </a:p>
        </p:txBody>
      </p:sp>
    </p:spTree>
    <p:extLst>
      <p:ext uri="{BB962C8B-B14F-4D97-AF65-F5344CB8AC3E}">
        <p14:creationId xmlns:p14="http://schemas.microsoft.com/office/powerpoint/2010/main" val="1846094360"/>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text-14">
            <a:extLst xmlns:a="http://schemas.openxmlformats.org/drawingml/2006/main">
              <a:ext uri="{FF2B5EF4-FFF2-40B4-BE49-F238E27FC236}">
                <a16:creationId xmlns:a16="http://schemas.microsoft.com/office/drawing/2014/main" id="{3B3CB5C8-DB37-4A96-9139-ACCA82943A21}"/>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The rollback loses order 104</a:t>
            </a:r>
          </a:p>
        </p:txBody>
      </p:sp>
      <p:sp>
        <p:nvSpPr>
          <p:cNvPr id="2" name="text-15">
            <a:extLst xmlns:a="http://schemas.openxmlformats.org/drawingml/2006/main">
              <a:ext uri="{FF2B5EF4-FFF2-40B4-BE49-F238E27FC236}">
                <a16:creationId xmlns:a16="http://schemas.microsoft.com/office/drawing/2014/main" id="{6A70E18F-BE89-4AF9-AE30-03E33C59AAEF}"/>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04</a:t>
            </a:r>
          </a:p>
        </p:txBody>
      </p:sp>
      <p:sp>
        <p:nvSpPr>
          <p:cNvPr id="3" name="text-16">
            <a:extLst xmlns:a="http://schemas.openxmlformats.org/drawingml/2006/main">
              <a:ext uri="{FF2B5EF4-FFF2-40B4-BE49-F238E27FC236}">
                <a16:creationId xmlns:a16="http://schemas.microsoft.com/office/drawing/2014/main" id="{AD88A1C3-630A-4CD8-B4B7-780887AA06C6}"/>
              </a:ext>
            </a:extLst>
          </p:cNvPr>
          <p:cNvSpPr>
            <a:spLocks xmlns:a="http://schemas.openxmlformats.org/drawingml/2006/main" noGrp="1"/>
          </p:cNvSpPr>
          <p:nvPr/>
        </p:nvSpPr>
        <p:spPr>
          <a:xfrm xmlns:a="http://schemas.openxmlformats.org/drawingml/2006/main">
            <a:off x="733425" y="228600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5251F"/>
                </a:solidFill>
                <a:latin typeface="Helvetica Neue"/>
                <a:ea typeface="Helvetica Neue"/>
                <a:cs typeface="Helvetica Neue"/>
              </a:defRPr>
            </a:pPr>
            <a:r>
              <a:rPr sz="2925" b="1">
                <a:solidFill>
                  <a:srgbClr val="25251F"/>
                </a:solidFill>
                <a:latin typeface="Helvetica Neue"/>
                <a:ea typeface="Helvetica Neue"/>
                <a:cs typeface="Helvetica Neue"/>
              </a:rPr>
              <a:t>4 rows before</a:t>
            </a:r>
          </a:p>
        </p:txBody>
      </p:sp>
      <p:sp>
        <p:nvSpPr>
          <p:cNvPr id="4" name="text-17">
            <a:extLst xmlns:a="http://schemas.openxmlformats.org/drawingml/2006/main">
              <a:ext uri="{FF2B5EF4-FFF2-40B4-BE49-F238E27FC236}">
                <a16:creationId xmlns:a16="http://schemas.microsoft.com/office/drawing/2014/main" id="{2BDED5FC-AC05-436C-807A-281D05384BD6}"/>
              </a:ext>
            </a:extLst>
          </p:cNvPr>
          <p:cNvSpPr>
            <a:spLocks xmlns:a="http://schemas.openxmlformats.org/drawingml/2006/main" noGrp="1"/>
          </p:cNvSpPr>
          <p:nvPr/>
        </p:nvSpPr>
        <p:spPr>
          <a:xfrm xmlns:a="http://schemas.openxmlformats.org/drawingml/2006/main">
            <a:off x="733425" y="300990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DE4F2A"/>
                </a:solidFill>
                <a:latin typeface="Helvetica Neue"/>
                <a:ea typeface="Helvetica Neue"/>
                <a:cs typeface="Helvetica Neue"/>
              </a:defRPr>
            </a:pPr>
            <a:r>
              <a:rPr sz="2925" b="1">
                <a:solidFill>
                  <a:srgbClr val="DE4F2A"/>
                </a:solidFill>
                <a:latin typeface="Helvetica Neue"/>
                <a:ea typeface="Helvetica Neue"/>
                <a:cs typeface="Helvetica Neue"/>
              </a:rPr>
              <a:t>3 rows after</a:t>
            </a:r>
          </a:p>
        </p:txBody>
      </p:sp>
      <p:sp>
        <p:nvSpPr>
          <p:cNvPr id="5" name="text-18">
            <a:extLst xmlns:a="http://schemas.openxmlformats.org/drawingml/2006/main">
              <a:ext uri="{FF2B5EF4-FFF2-40B4-BE49-F238E27FC236}">
                <a16:creationId xmlns:a16="http://schemas.microsoft.com/office/drawing/2014/main" id="{28E1D310-45CB-49B1-B2E4-0F65FAA0320C}"/>
              </a:ext>
            </a:extLst>
          </p:cNvPr>
          <p:cNvSpPr>
            <a:spLocks xmlns:a="http://schemas.openxmlformats.org/drawingml/2006/main" noGrp="1"/>
          </p:cNvSpPr>
          <p:nvPr/>
        </p:nvSpPr>
        <p:spPr>
          <a:xfrm xmlns:a="http://schemas.openxmlformats.org/drawingml/2006/main">
            <a:off x="752475" y="4162425"/>
            <a:ext cx="381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5665E"/>
                </a:solidFill>
                <a:latin typeface="Helvetica Neue"/>
                <a:ea typeface="Helvetica Neue"/>
                <a:cs typeface="Helvetica Neue"/>
              </a:defRPr>
            </a:pPr>
            <a:r>
              <a:rPr sz="2175" b="0">
                <a:solidFill>
                  <a:srgbClr val="65665E"/>
                </a:solidFill>
                <a:latin typeface="Helvetica Neue"/>
                <a:ea typeface="Helvetica Neue"/>
                <a:cs typeface="Helvetica Neue"/>
              </a:rPr>
              <a:t>The rollback SQL succeeds.</a:t>
            </a:r>
          </a:p>
          <a:p xmlns:a="http://schemas.openxmlformats.org/drawingml/2006/main">
            <a:pPr>
              <a:defRPr sz="2175" b="0">
                <a:solidFill>
                  <a:srgbClr val="65665E"/>
                </a:solidFill>
                <a:latin typeface="Helvetica Neue"/>
                <a:ea typeface="Helvetica Neue"/>
                <a:cs typeface="Helvetica Neue"/>
              </a:defRPr>
            </a:pPr>
            <a:r>
              <a:rPr sz="2175" b="0">
                <a:solidFill>
                  <a:srgbClr val="65665E"/>
                </a:solidFill>
                <a:latin typeface="Helvetica Neue"/>
                <a:ea typeface="Helvetica Neue"/>
                <a:cs typeface="Helvetica Neue"/>
              </a:rPr>
              <a:t>The invariant fails.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7744e9c3df458b"/>
          <a:stretch xmlns:a="http://schemas.openxmlformats.org/drawingml/2006/main"/>
        </p:blipFill>
        <p:spPr>
          <a:xfrm xmlns:a="http://schemas.openxmlformats.org/drawingml/2006/main">
            <a:off x="5150966" y="1666875"/>
            <a:ext cx="6023919" cy="4457700"/>
          </a:xfrm>
          <a:prstGeom xmlns:a="http://schemas.openxmlformats.org/drawingml/2006/main" prst="rect">
            <a:avLst/>
          </a:prstGeom>
        </p:spPr>
      </p:pic>
    </p:spTree>
    <p:extLst>
      <p:ext uri="{BB962C8B-B14F-4D97-AF65-F5344CB8AC3E}">
        <p14:creationId xmlns:p14="http://schemas.microsoft.com/office/powerpoint/2010/main" val="10969866"/>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text-19">
            <a:extLst xmlns:a="http://schemas.openxmlformats.org/drawingml/2006/main">
              <a:ext uri="{FF2B5EF4-FFF2-40B4-BE49-F238E27FC236}">
                <a16:creationId xmlns:a16="http://schemas.microsoft.com/office/drawing/2014/main" id="{73BF76AB-1563-4409-87FE-C01685C9FE8A}"/>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One reproducible rehearsal per plan</a:t>
            </a:r>
          </a:p>
        </p:txBody>
      </p:sp>
      <p:sp>
        <p:nvSpPr>
          <p:cNvPr id="2" name="text-20">
            <a:extLst xmlns:a="http://schemas.openxmlformats.org/drawingml/2006/main">
              <a:ext uri="{FF2B5EF4-FFF2-40B4-BE49-F238E27FC236}">
                <a16:creationId xmlns:a16="http://schemas.microsoft.com/office/drawing/2014/main" id="{FF77A229-C18C-4BC8-B11E-B903535077DD}"/>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05</a:t>
            </a:r>
          </a:p>
        </p:txBody>
      </p:sp>
      <p:graphicFrame>
        <p:nvGraphicFramePr>
          <p:cNvPr id="8" name=""/>
          <p:cNvGraphicFramePr/>
          <p:nvPr/>
        </p:nvGraphicFramePr>
        <p:xfrm>
          <a:off xmlns:a="http://schemas.openxmlformats.org/drawingml/2006/main" x="704850" y="2047875"/>
          <a:ext xmlns:a="http://schemas.openxmlformats.org/drawingml/2006/main" cx="10782300" cy="2381250"/>
        </p:xfrm>
        <a:graphic xmlns:a="http://schemas.openxmlformats.org/drawingml/2006/main">
          <a:graphicData uri="http://schemas.openxmlformats.org/drawingml/2006/table">
            <a:tbl>
              <a:tblPr/>
              <a:tblGrid>
                <a:gridCol w="3000375"/>
                <a:gridCol w="2333625"/>
                <a:gridCol w="3000375"/>
                <a:gridCol w="2447925"/>
              </a:tblGrid>
              <a:tr h="793750">
                <a:tc>
                  <a:txBody>
                    <a:bodyPr/>
                    <a:lstStyle/>
                    <a:p>
                      <a:r>
                        <a:rPr sz="1725" b="1">
                          <a:solidFill>
                            <a:srgbClr val="F6F3EB"/>
                          </a:solidFill>
                          <a:latin typeface="Helvetica Neue"/>
                          <a:ea typeface="Helvetica Neue"/>
                          <a:cs typeface="Helvetica Neue"/>
                        </a:rPr>
                        <a:t>Plan</a:t>
                      </a:r>
                    </a:p>
                  </a:txBody>
                  <a:tcPr marL="91440" marR="91440" marT="45720" marB="45720">
                    <a:solidFill>
                      <a:srgbClr val="25251F"/>
                    </a:solidFill>
                  </a:tcPr>
                </a:tc>
                <a:tc>
                  <a:txBody>
                    <a:bodyPr/>
                    <a:lstStyle/>
                    <a:p>
                      <a:r>
                        <a:rPr sz="1725" b="1">
                          <a:solidFill>
                            <a:srgbClr val="F6F3EB"/>
                          </a:solidFill>
                          <a:latin typeface="Helvetica Neue"/>
                          <a:ea typeface="Helvetica Neue"/>
                          <a:cs typeface="Helvetica Neue"/>
                        </a:rPr>
                        <a:t>Passed checks</a:t>
                      </a:r>
                    </a:p>
                  </a:txBody>
                  <a:tcPr marL="91440" marR="91440" marT="45720" marB="45720">
                    <a:solidFill>
                      <a:srgbClr val="25251F"/>
                    </a:solidFill>
                  </a:tcPr>
                </a:tc>
                <a:tc>
                  <a:txBody>
                    <a:bodyPr/>
                    <a:lstStyle/>
                    <a:p>
                      <a:r>
                        <a:rPr sz="1725" b="1">
                          <a:solidFill>
                            <a:srgbClr val="F6F3EB"/>
                          </a:solidFill>
                          <a:latin typeface="Helvetica Neue"/>
                          <a:ea typeface="Helvetica Neue"/>
                          <a:cs typeface="Helvetica Neue"/>
                        </a:rPr>
                        <a:t>Rows after rollback</a:t>
                      </a:r>
                    </a:p>
                  </a:txBody>
                  <a:tcPr marL="91440" marR="91440" marT="45720" marB="45720">
                    <a:solidFill>
                      <a:srgbClr val="25251F"/>
                    </a:solidFill>
                  </a:tcPr>
                </a:tc>
                <a:tc>
                  <a:txBody>
                    <a:bodyPr/>
                    <a:lstStyle/>
                    <a:p>
                      <a:r>
                        <a:rPr sz="1725" b="1">
                          <a:solidFill>
                            <a:srgbClr val="F6F3EB"/>
                          </a:solidFill>
                          <a:latin typeface="Helvetica Neue"/>
                          <a:ea typeface="Helvetica Neue"/>
                          <a:cs typeface="Helvetica Neue"/>
                        </a:rPr>
                        <a:t>Engine duration</a:t>
                      </a:r>
                    </a:p>
                  </a:txBody>
                  <a:tcPr marL="91440" marR="91440" marT="45720" marB="45720">
                    <a:solidFill>
                      <a:srgbClr val="25251F"/>
                    </a:solidFill>
                  </a:tcPr>
                </a:tc>
              </a:tr>
              <a:tr h="793750">
                <a:tc>
                  <a:txBody>
                    <a:bodyPr/>
                    <a:lstStyle/>
                    <a:p>
                      <a:r>
                        <a:rPr sz="1800" b="0">
                          <a:solidFill>
                            <a:srgbClr val="25251F"/>
                          </a:solidFill>
                          <a:latin typeface="Helvetica Neue"/>
                          <a:ea typeface="Helvetica Neue"/>
                          <a:cs typeface="Helvetica Neue"/>
                        </a:rPr>
                        <a:t>Unsafe snapshot</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9 of 10</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3 of 4</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2,810.96 ms</a:t>
                      </a:r>
                    </a:p>
                  </a:txBody>
                  <a:tcPr marL="91440" marR="91440" marT="45720" marB="45720">
                    <a:solidFill>
                      <a:srgbClr val="F6F3EB"/>
                    </a:solidFill>
                  </a:tcPr>
                </a:tc>
              </a:tr>
              <a:tr h="793750">
                <a:tc>
                  <a:txBody>
                    <a:bodyPr/>
                    <a:lstStyle/>
                    <a:p>
                      <a:r>
                        <a:rPr sz="1800" b="0">
                          <a:solidFill>
                            <a:srgbClr val="25251F"/>
                          </a:solidFill>
                          <a:latin typeface="Helvetica Neue"/>
                          <a:ea typeface="Helvetica Neue"/>
                          <a:cs typeface="Helvetica Neue"/>
                        </a:rPr>
                        <a:t>Supplied repair</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10 of 10</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4 of 4</a:t>
                      </a:r>
                    </a:p>
                  </a:txBody>
                  <a:tcPr marL="91440" marR="91440" marT="45720" marB="45720">
                    <a:solidFill>
                      <a:srgbClr val="F6F3EB"/>
                    </a:solidFill>
                  </a:tcPr>
                </a:tc>
                <a:tc>
                  <a:txBody>
                    <a:bodyPr/>
                    <a:lstStyle/>
                    <a:p>
                      <a:r>
                        <a:rPr sz="1800" b="0">
                          <a:solidFill>
                            <a:srgbClr val="25251F"/>
                          </a:solidFill>
                          <a:latin typeface="Helvetica Neue"/>
                          <a:ea typeface="Helvetica Neue"/>
                          <a:cs typeface="Helvetica Neue"/>
                        </a:rPr>
                        <a:t>2,808.79 ms</a:t>
                      </a:r>
                    </a:p>
                  </a:txBody>
                  <a:tcPr marL="91440" marR="91440" marT="45720" marB="45720">
                    <a:solidFill>
                      <a:srgbClr val="F6F3EB"/>
                    </a:solidFill>
                  </a:tcPr>
                </a:tc>
              </a:tr>
            </a:tbl>
          </a:graphicData>
        </a:graphic>
      </p:graphicFrame>
      <p:sp>
        <p:nvSpPr>
          <p:cNvPr id="4" name="text-21">
            <a:extLst xmlns:a="http://schemas.openxmlformats.org/drawingml/2006/main">
              <a:ext uri="{FF2B5EF4-FFF2-40B4-BE49-F238E27FC236}">
                <a16:creationId xmlns:a16="http://schemas.microsoft.com/office/drawing/2014/main" id="{E4F2C419-1040-4D3A-8657-7C2DEFD76F5F}"/>
              </a:ext>
            </a:extLst>
          </p:cNvPr>
          <p:cNvSpPr>
            <a:spLocks xmlns:a="http://schemas.openxmlformats.org/drawingml/2006/main" noGrp="1"/>
          </p:cNvSpPr>
          <p:nvPr/>
        </p:nvSpPr>
        <p:spPr>
          <a:xfrm xmlns:a="http://schemas.openxmlformats.org/drawingml/2006/main">
            <a:off x="742950" y="4810125"/>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E4F2A"/>
                </a:solidFill>
                <a:latin typeface="Helvetica Neue"/>
                <a:ea typeface="Helvetica Neue"/>
                <a:cs typeface="Helvetica Neue"/>
              </a:defRPr>
            </a:pPr>
            <a:r>
              <a:rPr sz="2550" b="1">
                <a:solidFill>
                  <a:srgbClr val="DE4F2A"/>
                </a:solidFill>
                <a:latin typeface="Helvetica Neue"/>
                <a:ea typeface="Helvetica Neue"/>
                <a:cs typeface="Helvetica Neue"/>
              </a:rPr>
              <a:t>Same invariant. The repair preserves the new order.</a:t>
            </a:r>
          </a:p>
        </p:txBody>
      </p:sp>
      <p:sp>
        <p:nvSpPr>
          <p:cNvPr id="5" name="text-22">
            <a:extLst xmlns:a="http://schemas.openxmlformats.org/drawingml/2006/main">
              <a:ext uri="{FF2B5EF4-FFF2-40B4-BE49-F238E27FC236}">
                <a16:creationId xmlns:a16="http://schemas.microsoft.com/office/drawing/2014/main" id="{DA727AB0-A9E4-4F71-9794-7FD6805D0830}"/>
              </a:ext>
            </a:extLst>
          </p:cNvPr>
          <p:cNvSpPr>
            <a:spLocks xmlns:a="http://schemas.openxmlformats.org/drawingml/2006/main" noGrp="1"/>
          </p:cNvSpPr>
          <p:nvPr/>
        </p:nvSpPr>
        <p:spPr>
          <a:xfrm xmlns:a="http://schemas.openxmlformats.org/drawingml/2006/main">
            <a:off x="742950" y="56578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665E"/>
                </a:solidFill>
                <a:latin typeface="Helvetica Neue"/>
                <a:ea typeface="Helvetica Neue"/>
                <a:cs typeface="Helvetica Neue"/>
              </a:defRPr>
            </a:pPr>
            <a:r>
              <a:rPr sz="1575" b="0">
                <a:solidFill>
                  <a:srgbClr val="65665E"/>
                </a:solidFill>
                <a:latin typeface="Helvetica Neue"/>
                <a:ea typeface="Helvetica Neue"/>
                <a:cs typeface="Helvetica Neue"/>
              </a:rPr>
              <a:t>Single synthetic CLI run per plan. Engine duration excludes setup and review.</a:t>
            </a:r>
          </a:p>
          <a:p xmlns:a="http://schemas.openxmlformats.org/drawingml/2006/main">
            <a:pPr>
              <a:defRPr sz="1575" b="0">
                <a:solidFill>
                  <a:srgbClr val="65665E"/>
                </a:solidFill>
                <a:latin typeface="Helvetica Neue"/>
                <a:ea typeface="Helvetica Neue"/>
                <a:cs typeface="Helvetica Neue"/>
              </a:defRPr>
            </a:pPr>
            <a:r>
              <a:rPr sz="1575" b="0">
                <a:solidFill>
                  <a:srgbClr val="65665E"/>
                </a:solidFill>
                <a:latin typeface="Helvetica Neue"/>
                <a:ea typeface="Helvetica Neue"/>
                <a:cs typeface="Helvetica Neue"/>
              </a:rPr>
              <a:t>This measures execution, not a percentage productivity improvement.</a:t>
            </a:r>
          </a:p>
        </p:txBody>
      </p:sp>
    </p:spTree>
    <p:extLst>
      <p:ext uri="{BB962C8B-B14F-4D97-AF65-F5344CB8AC3E}">
        <p14:creationId xmlns:p14="http://schemas.microsoft.com/office/powerpoint/2010/main" val="1200001361"/>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text-23">
            <a:extLst xmlns:a="http://schemas.openxmlformats.org/drawingml/2006/main">
              <a:ext uri="{FF2B5EF4-FFF2-40B4-BE49-F238E27FC236}">
                <a16:creationId xmlns:a16="http://schemas.microsoft.com/office/drawing/2014/main" id="{ECA5014B-1B35-47E8-869D-AACEAFC84EA5}"/>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IBM Bob repository validation</a:t>
            </a:r>
          </a:p>
        </p:txBody>
      </p:sp>
      <p:sp>
        <p:nvSpPr>
          <p:cNvPr id="2" name="text-24">
            <a:extLst xmlns:a="http://schemas.openxmlformats.org/drawingml/2006/main">
              <a:ext uri="{FF2B5EF4-FFF2-40B4-BE49-F238E27FC236}">
                <a16:creationId xmlns:a16="http://schemas.microsoft.com/office/drawing/2014/main" id="{3BF796D0-DDF2-4DA2-9151-59D6F0C56A52}"/>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06</a:t>
            </a:r>
          </a:p>
        </p:txBody>
      </p:sp>
      <p:sp>
        <p:nvSpPr>
          <p:cNvPr id="3" name="text-25">
            <a:extLst xmlns:a="http://schemas.openxmlformats.org/drawingml/2006/main">
              <a:ext uri="{FF2B5EF4-FFF2-40B4-BE49-F238E27FC236}">
                <a16:creationId xmlns:a16="http://schemas.microsoft.com/office/drawing/2014/main" id="{01C62A75-DFD0-4828-897D-8F40C6EB3FE9}"/>
              </a:ext>
            </a:extLst>
          </p:cNvPr>
          <p:cNvSpPr>
            <a:spLocks xmlns:a="http://schemas.openxmlformats.org/drawingml/2006/main" noGrp="1"/>
          </p:cNvSpPr>
          <p:nvPr/>
        </p:nvSpPr>
        <p:spPr>
          <a:xfrm xmlns:a="http://schemas.openxmlformats.org/drawingml/2006/main">
            <a:off x="733425" y="205740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E4F2A"/>
                </a:solidFill>
                <a:latin typeface="Helvetica Neue"/>
                <a:ea typeface="Helvetica Neue"/>
                <a:cs typeface="Helvetica Neue"/>
              </a:defRPr>
            </a:pPr>
            <a:r>
              <a:rPr sz="3000" b="1">
                <a:solidFill>
                  <a:srgbClr val="DE4F2A"/>
                </a:solidFill>
                <a:latin typeface="Helvetica Neue"/>
                <a:ea typeface="Helvetica Neue"/>
                <a:cs typeface="Helvetica Neue"/>
              </a:rPr>
              <a:t>1  Source-derived regression tests</a:t>
            </a:r>
          </a:p>
        </p:txBody>
      </p:sp>
      <p:sp>
        <p:nvSpPr>
          <p:cNvPr id="4" name="text-26">
            <a:extLst xmlns:a="http://schemas.openxmlformats.org/drawingml/2006/main">
              <a:ext uri="{FF2B5EF4-FFF2-40B4-BE49-F238E27FC236}">
                <a16:creationId xmlns:a16="http://schemas.microsoft.com/office/drawing/2014/main" id="{A2F1E14D-7035-4F68-B3ED-A97FE642F55A}"/>
              </a:ext>
            </a:extLst>
          </p:cNvPr>
          <p:cNvSpPr>
            <a:spLocks xmlns:a="http://schemas.openxmlformats.org/drawingml/2006/main" noGrp="1"/>
          </p:cNvSpPr>
          <p:nvPr/>
        </p:nvSpPr>
        <p:spPr>
          <a:xfrm xmlns:a="http://schemas.openxmlformats.org/drawingml/2006/main">
            <a:off x="1162050" y="2771775"/>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51F"/>
                </a:solidFill>
                <a:latin typeface="Helvetica Neue"/>
                <a:ea typeface="Helvetica Neue"/>
                <a:cs typeface="Helvetica Neue"/>
              </a:defRPr>
            </a:pPr>
            <a:r>
              <a:rPr sz="2400" b="0">
                <a:solidFill>
                  <a:srgbClr val="25251F"/>
                </a:solidFill>
                <a:latin typeface="Helvetica Neue"/>
                <a:ea typeface="Helvetica Neue"/>
                <a:cs typeface="Helvetica Neue"/>
              </a:rPr>
              <a:t>41 checks cover the checkout contract, silent data loss,</a:t>
            </a:r>
          </a:p>
          <a:p xmlns:a="http://schemas.openxmlformats.org/drawingml/2006/main">
            <a:pPr>
              <a:defRPr sz="2400" b="0">
                <a:solidFill>
                  <a:srgbClr val="25251F"/>
                </a:solidFill>
                <a:latin typeface="Helvetica Neue"/>
                <a:ea typeface="Helvetica Neue"/>
                <a:cs typeface="Helvetica Neue"/>
              </a:defRPr>
            </a:pPr>
            <a:r>
              <a:rPr sz="2400" b="0">
                <a:solidFill>
                  <a:srgbClr val="25251F"/>
                </a:solidFill>
                <a:latin typeface="Helvetica Neue"/>
                <a:ea typeface="Helvetica Neue"/>
                <a:cs typeface="Helvetica Neue"/>
              </a:rPr>
              <a:t>and the unchanged repair invariant.</a:t>
            </a:r>
          </a:p>
        </p:txBody>
      </p:sp>
      <p:sp>
        <p:nvSpPr>
          <p:cNvPr id="5" name="text-27">
            <a:extLst xmlns:a="http://schemas.openxmlformats.org/drawingml/2006/main">
              <a:ext uri="{FF2B5EF4-FFF2-40B4-BE49-F238E27FC236}">
                <a16:creationId xmlns:a16="http://schemas.microsoft.com/office/drawing/2014/main" id="{EB552420-4E6C-4140-8FB6-B2231FFCB221}"/>
              </a:ext>
            </a:extLst>
          </p:cNvPr>
          <p:cNvSpPr>
            <a:spLocks xmlns:a="http://schemas.openxmlformats.org/drawingml/2006/main" noGrp="1"/>
          </p:cNvSpPr>
          <p:nvPr/>
        </p:nvSpPr>
        <p:spPr>
          <a:xfrm xmlns:a="http://schemas.openxmlformats.org/drawingml/2006/main">
            <a:off x="733425" y="39909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E4F2A"/>
                </a:solidFill>
                <a:latin typeface="Helvetica Neue"/>
                <a:ea typeface="Helvetica Neue"/>
                <a:cs typeface="Helvetica Neue"/>
              </a:defRPr>
            </a:pPr>
            <a:r>
              <a:rPr sz="3000" b="1">
                <a:solidFill>
                  <a:srgbClr val="DE4F2A"/>
                </a:solidFill>
                <a:latin typeface="Helvetica Neue"/>
                <a:ea typeface="Helvetica Neue"/>
                <a:cs typeface="Helvetica Neue"/>
              </a:rPr>
              <a:t>2  Real PostgreSQL validation</a:t>
            </a:r>
          </a:p>
        </p:txBody>
      </p:sp>
      <p:sp>
        <p:nvSpPr>
          <p:cNvPr id="6" name="text-28">
            <a:extLst xmlns:a="http://schemas.openxmlformats.org/drawingml/2006/main">
              <a:ext uri="{FF2B5EF4-FFF2-40B4-BE49-F238E27FC236}">
                <a16:creationId xmlns:a16="http://schemas.microsoft.com/office/drawing/2014/main" id="{3585238D-18C2-4B90-8B86-8B4DA8301170}"/>
              </a:ext>
            </a:extLst>
          </p:cNvPr>
          <p:cNvSpPr>
            <a:spLocks xmlns:a="http://schemas.openxmlformats.org/drawingml/2006/main" noGrp="1"/>
          </p:cNvSpPr>
          <p:nvPr/>
        </p:nvSpPr>
        <p:spPr>
          <a:xfrm xmlns:a="http://schemas.openxmlformats.org/drawingml/2006/main">
            <a:off x="1162050" y="4714875"/>
            <a:ext cx="10001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51F"/>
                </a:solidFill>
                <a:latin typeface="Helvetica Neue"/>
                <a:ea typeface="Helvetica Neue"/>
                <a:cs typeface="Helvetica Neue"/>
              </a:defRPr>
            </a:pPr>
            <a:r>
              <a:rPr sz="2400" b="0">
                <a:solidFill>
                  <a:srgbClr val="25251F"/>
                </a:solidFill>
                <a:latin typeface="Helvetica Neue"/>
                <a:ea typeface="Helvetica Neue"/>
                <a:cs typeface="Helvetica Neue"/>
              </a:rPr>
              <a:t>Bob ran the new suite in the repository using PGlite.</a:t>
            </a:r>
          </a:p>
        </p:txBody>
      </p:sp>
      <p:sp>
        <p:nvSpPr>
          <p:cNvPr id="7" name="text-29">
            <a:extLst xmlns:a="http://schemas.openxmlformats.org/drawingml/2006/main">
              <a:ext uri="{FF2B5EF4-FFF2-40B4-BE49-F238E27FC236}">
                <a16:creationId xmlns:a16="http://schemas.microsoft.com/office/drawing/2014/main" id="{56C0BAA2-94AE-4DD1-9F91-22DE7FFC35F6}"/>
              </a:ext>
            </a:extLst>
          </p:cNvPr>
          <p:cNvSpPr>
            <a:spLocks xmlns:a="http://schemas.openxmlformats.org/drawingml/2006/main" noGrp="1"/>
          </p:cNvSpPr>
          <p:nvPr/>
        </p:nvSpPr>
        <p:spPr>
          <a:xfrm xmlns:a="http://schemas.openxmlformats.org/drawingml/2006/main">
            <a:off x="752475" y="5857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665E"/>
                </a:solidFill>
                <a:latin typeface="Helvetica Neue"/>
                <a:ea typeface="Helvetica Neue"/>
                <a:cs typeface="Helvetica Neue"/>
              </a:defRPr>
            </a:pPr>
            <a:r>
              <a:rPr sz="1575" b="0">
                <a:solidFill>
                  <a:srgbClr val="65665E"/>
                </a:solidFill>
                <a:latin typeface="Helvetica Neue"/>
                <a:ea typeface="Helvetica Neue"/>
                <a:cs typeface="Helvetica Neue"/>
              </a:rPr>
              <a:t>Scoped Bob testing contribution. Sample repairs remain authored examples.</a:t>
            </a:r>
          </a:p>
        </p:txBody>
      </p:sp>
    </p:spTree>
    <p:extLst>
      <p:ext uri="{BB962C8B-B14F-4D97-AF65-F5344CB8AC3E}">
        <p14:creationId xmlns:p14="http://schemas.microsoft.com/office/powerpoint/2010/main" val="396736672"/>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text-30">
            <a:extLst xmlns:a="http://schemas.openxmlformats.org/drawingml/2006/main">
              <a:ext uri="{FF2B5EF4-FFF2-40B4-BE49-F238E27FC236}">
                <a16:creationId xmlns:a16="http://schemas.microsoft.com/office/drawing/2014/main" id="{12F0B068-2FAD-4891-882F-2A79E5690FB7}"/>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A focused commercial starting point</a:t>
            </a:r>
          </a:p>
        </p:txBody>
      </p:sp>
      <p:sp>
        <p:nvSpPr>
          <p:cNvPr id="2" name="text-31">
            <a:extLst xmlns:a="http://schemas.openxmlformats.org/drawingml/2006/main">
              <a:ext uri="{FF2B5EF4-FFF2-40B4-BE49-F238E27FC236}">
                <a16:creationId xmlns:a16="http://schemas.microsoft.com/office/drawing/2014/main" id="{F470C589-0C04-466E-A982-9D905981184F}"/>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07</a:t>
            </a:r>
          </a:p>
        </p:txBody>
      </p:sp>
      <p:sp>
        <p:nvSpPr>
          <p:cNvPr id="3" name="text-32">
            <a:extLst xmlns:a="http://schemas.openxmlformats.org/drawingml/2006/main">
              <a:ext uri="{FF2B5EF4-FFF2-40B4-BE49-F238E27FC236}">
                <a16:creationId xmlns:a16="http://schemas.microsoft.com/office/drawing/2014/main" id="{8593598E-61CF-4835-831B-41984CDF3B92}"/>
              </a:ext>
            </a:extLst>
          </p:cNvPr>
          <p:cNvSpPr>
            <a:spLocks xmlns:a="http://schemas.openxmlformats.org/drawingml/2006/main" noGrp="1"/>
          </p:cNvSpPr>
          <p:nvPr/>
        </p:nvSpPr>
        <p:spPr>
          <a:xfrm xmlns:a="http://schemas.openxmlformats.org/drawingml/2006/main">
            <a:off x="733425" y="195262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E4F2A"/>
                </a:solidFill>
                <a:latin typeface="Helvetica Neue"/>
                <a:ea typeface="Helvetica Neue"/>
                <a:cs typeface="Helvetica Neue"/>
              </a:defRPr>
            </a:pPr>
            <a:r>
              <a:rPr sz="2175" b="1">
                <a:solidFill>
                  <a:srgbClr val="DE4F2A"/>
                </a:solidFill>
                <a:latin typeface="Helvetica Neue"/>
                <a:ea typeface="Helvetica Neue"/>
                <a:cs typeface="Helvetica Neue"/>
              </a:rPr>
              <a:t>The first buyer</a:t>
            </a:r>
          </a:p>
        </p:txBody>
      </p:sp>
      <p:sp>
        <p:nvSpPr>
          <p:cNvPr id="4" name="text-33">
            <a:extLst xmlns:a="http://schemas.openxmlformats.org/drawingml/2006/main">
              <a:ext uri="{FF2B5EF4-FFF2-40B4-BE49-F238E27FC236}">
                <a16:creationId xmlns:a16="http://schemas.microsoft.com/office/drawing/2014/main" id="{6F777A74-734E-4FD0-956D-30D179529255}"/>
              </a:ext>
            </a:extLst>
          </p:cNvPr>
          <p:cNvSpPr>
            <a:spLocks xmlns:a="http://schemas.openxmlformats.org/drawingml/2006/main" noGrp="1"/>
          </p:cNvSpPr>
          <p:nvPr/>
        </p:nvSpPr>
        <p:spPr>
          <a:xfrm xmlns:a="http://schemas.openxmlformats.org/drawingml/2006/main">
            <a:off x="733425" y="2543175"/>
            <a:ext cx="5334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5251F"/>
                </a:solidFill>
                <a:latin typeface="Helvetica Neue"/>
                <a:ea typeface="Helvetica Neue"/>
                <a:cs typeface="Helvetica Neue"/>
              </a:defRPr>
            </a:pPr>
            <a:r>
              <a:rPr sz="2850" b="1">
                <a:solidFill>
                  <a:srgbClr val="25251F"/>
                </a:solidFill>
                <a:latin typeface="Helvetica Neue"/>
                <a:ea typeface="Helvetica Neue"/>
                <a:cs typeface="Helvetica Neue"/>
              </a:rPr>
              <a:t>Platform leads at SaaS teams</a:t>
            </a:r>
          </a:p>
          <a:p xmlns:a="http://schemas.openxmlformats.org/drawingml/2006/main">
            <a:pPr>
              <a:defRPr sz="2850" b="1">
                <a:solidFill>
                  <a:srgbClr val="25251F"/>
                </a:solidFill>
                <a:latin typeface="Helvetica Neue"/>
                <a:ea typeface="Helvetica Neue"/>
                <a:cs typeface="Helvetica Neue"/>
              </a:defRPr>
            </a:pPr>
            <a:r>
              <a:rPr sz="2850" b="1">
                <a:solidFill>
                  <a:srgbClr val="25251F"/>
                </a:solidFill>
                <a:latin typeface="Helvetica Neue"/>
                <a:ea typeface="Helvetica Neue"/>
                <a:cs typeface="Helvetica Neue"/>
              </a:rPr>
              <a:t>shipping database changes</a:t>
            </a:r>
          </a:p>
        </p:txBody>
      </p:sp>
      <p:sp>
        <p:nvSpPr>
          <p:cNvPr id="5" name="text-34">
            <a:extLst xmlns:a="http://schemas.openxmlformats.org/drawingml/2006/main">
              <a:ext uri="{FF2B5EF4-FFF2-40B4-BE49-F238E27FC236}">
                <a16:creationId xmlns:a16="http://schemas.microsoft.com/office/drawing/2014/main" id="{3C4F79B4-3818-4254-B6B8-BC87BB3E7A33}"/>
              </a:ext>
            </a:extLst>
          </p:cNvPr>
          <p:cNvSpPr>
            <a:spLocks xmlns:a="http://schemas.openxmlformats.org/drawingml/2006/main" noGrp="1"/>
          </p:cNvSpPr>
          <p:nvPr/>
        </p:nvSpPr>
        <p:spPr>
          <a:xfrm xmlns:a="http://schemas.openxmlformats.org/drawingml/2006/main">
            <a:off x="733425" y="4210050"/>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E4F2A"/>
                </a:solidFill>
                <a:latin typeface="Helvetica Neue"/>
                <a:ea typeface="Helvetica Neue"/>
                <a:cs typeface="Helvetica Neue"/>
              </a:defRPr>
            </a:pPr>
            <a:r>
              <a:rPr sz="2175" b="1">
                <a:solidFill>
                  <a:srgbClr val="DE4F2A"/>
                </a:solidFill>
                <a:latin typeface="Helvetica Neue"/>
                <a:ea typeface="Helvetica Neue"/>
                <a:cs typeface="Helvetica Neue"/>
              </a:rPr>
              <a:t>The adoption trigger</a:t>
            </a:r>
          </a:p>
        </p:txBody>
      </p:sp>
      <p:sp>
        <p:nvSpPr>
          <p:cNvPr id="6" name="text-35">
            <a:extLst xmlns:a="http://schemas.openxmlformats.org/drawingml/2006/main">
              <a:ext uri="{FF2B5EF4-FFF2-40B4-BE49-F238E27FC236}">
                <a16:creationId xmlns:a16="http://schemas.microsoft.com/office/drawing/2014/main" id="{1B6CDA71-8847-495D-9171-4DEA11FA7E2D}"/>
              </a:ext>
            </a:extLst>
          </p:cNvPr>
          <p:cNvSpPr>
            <a:spLocks xmlns:a="http://schemas.openxmlformats.org/drawingml/2006/main" noGrp="1"/>
          </p:cNvSpPr>
          <p:nvPr/>
        </p:nvSpPr>
        <p:spPr>
          <a:xfrm xmlns:a="http://schemas.openxmlformats.org/drawingml/2006/main">
            <a:off x="733425" y="4791075"/>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5251F"/>
                </a:solidFill>
                <a:latin typeface="Helvetica Neue"/>
                <a:ea typeface="Helvetica Neue"/>
                <a:cs typeface="Helvetica Neue"/>
              </a:defRPr>
            </a:pPr>
            <a:r>
              <a:rPr sz="2850" b="0">
                <a:solidFill>
                  <a:srgbClr val="25251F"/>
                </a:solidFill>
                <a:latin typeface="Helvetica Neue"/>
                <a:ea typeface="Helvetica Neue"/>
                <a:cs typeface="Helvetica Neue"/>
              </a:rPr>
              <a:t>The next migration</a:t>
            </a:r>
          </a:p>
          <a:p xmlns:a="http://schemas.openxmlformats.org/drawingml/2006/main">
            <a:pPr>
              <a:defRPr sz="2850" b="0">
                <a:solidFill>
                  <a:srgbClr val="25251F"/>
                </a:solidFill>
                <a:latin typeface="Helvetica Neue"/>
                <a:ea typeface="Helvetica Neue"/>
                <a:cs typeface="Helvetica Neue"/>
              </a:defRPr>
            </a:pPr>
            <a:r>
              <a:rPr sz="2850" b="0">
                <a:solidFill>
                  <a:srgbClr val="25251F"/>
                </a:solidFill>
                <a:latin typeface="Helvetica Neue"/>
                <a:ea typeface="Helvetica Neue"/>
                <a:cs typeface="Helvetica Neue"/>
              </a:rPr>
              <a:t>pull request</a:t>
            </a:r>
          </a:p>
        </p:txBody>
      </p:sp>
      <p:sp>
        <p:nvSpPr>
          <p:cNvPr id="7" name="text-36">
            <a:extLst xmlns:a="http://schemas.openxmlformats.org/drawingml/2006/main">
              <a:ext uri="{FF2B5EF4-FFF2-40B4-BE49-F238E27FC236}">
                <a16:creationId xmlns:a16="http://schemas.microsoft.com/office/drawing/2014/main" id="{855D47F7-F7BE-45A4-9BBC-078B8278DFE4}"/>
              </a:ext>
            </a:extLst>
          </p:cNvPr>
          <p:cNvSpPr>
            <a:spLocks xmlns:a="http://schemas.openxmlformats.org/drawingml/2006/main" noGrp="1"/>
          </p:cNvSpPr>
          <p:nvPr/>
        </p:nvSpPr>
        <p:spPr>
          <a:xfrm xmlns:a="http://schemas.openxmlformats.org/drawingml/2006/main">
            <a:off x="7143750" y="1952625"/>
            <a:ext cx="4191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5251F"/>
                </a:solidFill>
                <a:latin typeface="Helvetica Neue"/>
                <a:ea typeface="Helvetica Neue"/>
                <a:cs typeface="Helvetica Neue"/>
              </a:defRPr>
            </a:pPr>
            <a:r>
              <a:rPr sz="4800" b="1">
                <a:solidFill>
                  <a:srgbClr val="25251F"/>
                </a:solidFill>
                <a:latin typeface="Helvetica Neue"/>
                <a:ea typeface="Helvetica Neue"/>
                <a:cs typeface="Helvetica Neue"/>
              </a:rPr>
              <a:t>Free</a:t>
            </a:r>
          </a:p>
        </p:txBody>
      </p:sp>
      <p:sp>
        <p:nvSpPr>
          <p:cNvPr id="8" name="text-37">
            <a:extLst xmlns:a="http://schemas.openxmlformats.org/drawingml/2006/main">
              <a:ext uri="{FF2B5EF4-FFF2-40B4-BE49-F238E27FC236}">
                <a16:creationId xmlns:a16="http://schemas.microsoft.com/office/drawing/2014/main" id="{5B3013FC-C1A2-4EC4-BA6E-289203232C66}"/>
              </a:ext>
            </a:extLst>
          </p:cNvPr>
          <p:cNvSpPr>
            <a:spLocks xmlns:a="http://schemas.openxmlformats.org/drawingml/2006/main" noGrp="1"/>
          </p:cNvSpPr>
          <p:nvPr/>
        </p:nvSpPr>
        <p:spPr>
          <a:xfrm xmlns:a="http://schemas.openxmlformats.org/drawingml/2006/main">
            <a:off x="7143750" y="2838450"/>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5665E"/>
                </a:solidFill>
                <a:latin typeface="Helvetica Neue"/>
                <a:ea typeface="Helvetica Neue"/>
                <a:cs typeface="Helvetica Neue"/>
              </a:defRPr>
            </a:pPr>
            <a:r>
              <a:rPr sz="2100" b="0">
                <a:solidFill>
                  <a:srgbClr val="65665E"/>
                </a:solidFill>
                <a:latin typeface="Helvetica Neue"/>
                <a:ea typeface="Helvetica Neue"/>
                <a:cs typeface="Helvetica Neue"/>
              </a:rPr>
              <a:t>MIT local runner + CI</a:t>
            </a:r>
          </a:p>
        </p:txBody>
      </p:sp>
      <p:sp>
        <p:nvSpPr>
          <p:cNvPr id="9" name="text-38">
            <a:extLst xmlns:a="http://schemas.openxmlformats.org/drawingml/2006/main">
              <a:ext uri="{FF2B5EF4-FFF2-40B4-BE49-F238E27FC236}">
                <a16:creationId xmlns:a16="http://schemas.microsoft.com/office/drawing/2014/main" id="{E8A6E1B0-09DD-41C8-B2E9-D0DB9611F58D}"/>
              </a:ext>
            </a:extLst>
          </p:cNvPr>
          <p:cNvSpPr>
            <a:spLocks xmlns:a="http://schemas.openxmlformats.org/drawingml/2006/main" noGrp="1"/>
          </p:cNvSpPr>
          <p:nvPr/>
        </p:nvSpPr>
        <p:spPr>
          <a:xfrm xmlns:a="http://schemas.openxmlformats.org/drawingml/2006/main">
            <a:off x="7143750" y="4105275"/>
            <a:ext cx="4381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5251F"/>
                </a:solidFill>
                <a:latin typeface="Helvetica Neue"/>
                <a:ea typeface="Helvetica Neue"/>
                <a:cs typeface="Helvetica Neue"/>
              </a:defRPr>
            </a:pPr>
            <a:r>
              <a:rPr sz="3000" b="1">
                <a:solidFill>
                  <a:srgbClr val="25251F"/>
                </a:solidFill>
                <a:latin typeface="Helvetica Neue"/>
                <a:ea typeface="Helvetica Neue"/>
                <a:cs typeface="Helvetica Neue"/>
              </a:rPr>
              <a:t>$99 / team / month</a:t>
            </a:r>
          </a:p>
        </p:txBody>
      </p:sp>
      <p:sp>
        <p:nvSpPr>
          <p:cNvPr id="10" name="text-39">
            <a:extLst xmlns:a="http://schemas.openxmlformats.org/drawingml/2006/main">
              <a:ext uri="{FF2B5EF4-FFF2-40B4-BE49-F238E27FC236}">
                <a16:creationId xmlns:a16="http://schemas.microsoft.com/office/drawing/2014/main" id="{17929FF9-6410-4D21-83DA-A6F20B74DB4A}"/>
              </a:ext>
            </a:extLst>
          </p:cNvPr>
          <p:cNvSpPr>
            <a:spLocks xmlns:a="http://schemas.openxmlformats.org/drawingml/2006/main" noGrp="1"/>
          </p:cNvSpPr>
          <p:nvPr/>
        </p:nvSpPr>
        <p:spPr>
          <a:xfrm xmlns:a="http://schemas.openxmlformats.org/drawingml/2006/main">
            <a:off x="7143750" y="4857750"/>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5665E"/>
                </a:solidFill>
                <a:latin typeface="Helvetica Neue"/>
                <a:ea typeface="Helvetica Neue"/>
                <a:cs typeface="Helvetica Neue"/>
              </a:defRPr>
            </a:pPr>
            <a:r>
              <a:rPr sz="2100" b="0">
                <a:solidFill>
                  <a:srgbClr val="65665E"/>
                </a:solidFill>
                <a:latin typeface="Helvetica Neue"/>
                <a:ea typeface="Helvetica Neue"/>
                <a:cs typeface="Helvetica Neue"/>
              </a:rPr>
              <a:t>Proposed shared policies</a:t>
            </a:r>
          </a:p>
          <a:p xmlns:a="http://schemas.openxmlformats.org/drawingml/2006/main">
            <a:pPr>
              <a:defRPr sz="2100" b="0">
                <a:solidFill>
                  <a:srgbClr val="65665E"/>
                </a:solidFill>
                <a:latin typeface="Helvetica Neue"/>
                <a:ea typeface="Helvetica Neue"/>
                <a:cs typeface="Helvetica Neue"/>
              </a:defRPr>
            </a:pPr>
            <a:r>
              <a:rPr sz="2100" b="0">
                <a:solidFill>
                  <a:srgbClr val="65665E"/>
                </a:solidFill>
                <a:latin typeface="Helvetica Neue"/>
                <a:ea typeface="Helvetica Neue"/>
                <a:cs typeface="Helvetica Neue"/>
              </a:rPr>
              <a:t>and retained evidence</a:t>
            </a:r>
          </a:p>
        </p:txBody>
      </p:sp>
      <p:sp>
        <p:nvSpPr>
          <p:cNvPr id="11" name="text-40">
            <a:extLst xmlns:a="http://schemas.openxmlformats.org/drawingml/2006/main">
              <a:ext uri="{FF2B5EF4-FFF2-40B4-BE49-F238E27FC236}">
                <a16:creationId xmlns:a16="http://schemas.microsoft.com/office/drawing/2014/main" id="{A04BEC25-5DC4-44AD-BECC-8C7EA9C89440}"/>
              </a:ext>
            </a:extLst>
          </p:cNvPr>
          <p:cNvSpPr>
            <a:spLocks xmlns:a="http://schemas.openxmlformats.org/drawingml/2006/main" noGrp="1"/>
          </p:cNvSpPr>
          <p:nvPr/>
        </p:nvSpPr>
        <p:spPr>
          <a:xfrm xmlns:a="http://schemas.openxmlformats.org/drawingml/2006/main">
            <a:off x="7143750" y="5838825"/>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E4F2A"/>
                </a:solidFill>
                <a:latin typeface="Helvetica Neue"/>
                <a:ea typeface="Helvetica Neue"/>
                <a:cs typeface="Helvetica Neue"/>
              </a:defRPr>
            </a:pPr>
            <a:r>
              <a:rPr sz="1425" b="0">
                <a:solidFill>
                  <a:srgbClr val="DE4F2A"/>
                </a:solidFill>
                <a:latin typeface="Helvetica Neue"/>
                <a:ea typeface="Helvetica Neue"/>
                <a:cs typeface="Helvetica Neue"/>
              </a:rPr>
              <a:t>Pricing hypothesis</a:t>
            </a:r>
          </a:p>
        </p:txBody>
      </p:sp>
    </p:spTree>
    <p:extLst>
      <p:ext uri="{BB962C8B-B14F-4D97-AF65-F5344CB8AC3E}">
        <p14:creationId xmlns:p14="http://schemas.microsoft.com/office/powerpoint/2010/main" val="2023008592"/>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text-41">
            <a:extLst xmlns:a="http://schemas.openxmlformats.org/drawingml/2006/main">
              <a:ext uri="{FF2B5EF4-FFF2-40B4-BE49-F238E27FC236}">
                <a16:creationId xmlns:a16="http://schemas.microsoft.com/office/drawing/2014/main" id="{CE7B714D-AA16-4A6C-BE9F-D318F894FA12}"/>
              </a:ext>
            </a:extLst>
          </p:cNvPr>
          <p:cNvSpPr>
            <a:spLocks xmlns:a="http://schemas.openxmlformats.org/drawingml/2006/main" noGrp="1"/>
          </p:cNvSpPr>
          <p:nvPr/>
        </p:nvSpPr>
        <p:spPr>
          <a:xfrm xmlns:a="http://schemas.openxmlformats.org/drawingml/2006/main">
            <a:off x="666750" y="59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25251F"/>
                </a:solidFill>
                <a:latin typeface="Helvetica Neue"/>
                <a:ea typeface="Helvetica Neue"/>
                <a:cs typeface="Helvetica Neue"/>
              </a:defRPr>
            </a:pPr>
            <a:r>
              <a:rPr sz="3750" b="1">
                <a:solidFill>
                  <a:srgbClr val="25251F"/>
                </a:solidFill>
                <a:latin typeface="Helvetica Neue"/>
                <a:ea typeface="Helvetica Neue"/>
                <a:cs typeface="Helvetica Neue"/>
              </a:rPr>
              <a:t>A complement to migration tools</a:t>
            </a:r>
          </a:p>
        </p:txBody>
      </p:sp>
      <p:sp>
        <p:nvSpPr>
          <p:cNvPr id="2" name="text-42">
            <a:extLst xmlns:a="http://schemas.openxmlformats.org/drawingml/2006/main">
              <a:ext uri="{FF2B5EF4-FFF2-40B4-BE49-F238E27FC236}">
                <a16:creationId xmlns:a16="http://schemas.microsoft.com/office/drawing/2014/main" id="{7145742E-E520-48F5-BA94-E2081A4C83ED}"/>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65E"/>
                </a:solidFill>
                <a:latin typeface="Helvetica Neue"/>
                <a:ea typeface="Helvetica Neue"/>
                <a:cs typeface="Helvetica Neue"/>
              </a:defRPr>
            </a:pPr>
            <a:r>
              <a:rPr sz="1200" b="0">
                <a:solidFill>
                  <a:srgbClr val="65665E"/>
                </a:solidFill>
                <a:latin typeface="Helvetica Neue"/>
                <a:ea typeface="Helvetica Neue"/>
                <a:cs typeface="Helvetica Neue"/>
              </a:rPr>
              <a:t>UndoProof  /  08</a:t>
            </a:r>
          </a:p>
        </p:txBody>
      </p:sp>
      <p:sp>
        <p:nvSpPr>
          <p:cNvPr id="3" name="text-43">
            <a:extLst xmlns:a="http://schemas.openxmlformats.org/drawingml/2006/main">
              <a:ext uri="{FF2B5EF4-FFF2-40B4-BE49-F238E27FC236}">
                <a16:creationId xmlns:a16="http://schemas.microsoft.com/office/drawing/2014/main" id="{2D3A94B5-1D79-4A86-8D06-5BE407CABFBF}"/>
              </a:ext>
            </a:extLst>
          </p:cNvPr>
          <p:cNvSpPr>
            <a:spLocks xmlns:a="http://schemas.openxmlformats.org/drawingml/2006/main" noGrp="1"/>
          </p:cNvSpPr>
          <p:nvPr/>
        </p:nvSpPr>
        <p:spPr>
          <a:xfrm xmlns:a="http://schemas.openxmlformats.org/drawingml/2006/main">
            <a:off x="733425" y="19050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51F"/>
                </a:solidFill>
                <a:latin typeface="Helvetica Neue"/>
                <a:ea typeface="Helvetica Neue"/>
                <a:cs typeface="Helvetica Neue"/>
              </a:defRPr>
            </a:pPr>
            <a:r>
              <a:rPr sz="2400" b="0">
                <a:solidFill>
                  <a:srgbClr val="25251F"/>
                </a:solidFill>
                <a:latin typeface="Helvetica Neue"/>
                <a:ea typeface="Helvetica Neue"/>
                <a:cs typeface="Helvetica Neue"/>
              </a:rPr>
              <a:t>Atlas, Liquibase and Flyway already manage migrations</a:t>
            </a:r>
          </a:p>
          <a:p xmlns:a="http://schemas.openxmlformats.org/drawingml/2006/main">
            <a:pPr>
              <a:defRPr sz="2400" b="0">
                <a:solidFill>
                  <a:srgbClr val="25251F"/>
                </a:solidFill>
                <a:latin typeface="Helvetica Neue"/>
                <a:ea typeface="Helvetica Neue"/>
                <a:cs typeface="Helvetica Neue"/>
              </a:defRPr>
            </a:pPr>
            <a:r>
              <a:rPr sz="2400" b="0">
                <a:solidFill>
                  <a:srgbClr val="25251F"/>
                </a:solidFill>
                <a:latin typeface="Helvetica Neue"/>
                <a:ea typeface="Helvetica Neue"/>
                <a:cs typeface="Helvetica Neue"/>
              </a:rPr>
              <a:t>and support recovery workflows.</a:t>
            </a:r>
          </a:p>
        </p:txBody>
      </p:sp>
      <p:sp>
        <p:nvSpPr>
          <p:cNvPr id="4" name="text-44">
            <a:extLst xmlns:a="http://schemas.openxmlformats.org/drawingml/2006/main">
              <a:ext uri="{FF2B5EF4-FFF2-40B4-BE49-F238E27FC236}">
                <a16:creationId xmlns:a16="http://schemas.microsoft.com/office/drawing/2014/main" id="{954EB757-D1E6-4E4B-890F-52DCF4960F2C}"/>
              </a:ext>
            </a:extLst>
          </p:cNvPr>
          <p:cNvSpPr>
            <a:spLocks xmlns:a="http://schemas.openxmlformats.org/drawingml/2006/main" noGrp="1"/>
          </p:cNvSpPr>
          <p:nvPr/>
        </p:nvSpPr>
        <p:spPr>
          <a:xfrm xmlns:a="http://schemas.openxmlformats.org/drawingml/2006/main">
            <a:off x="733425" y="3286125"/>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E4F2A"/>
                </a:solidFill>
                <a:latin typeface="Helvetica Neue"/>
                <a:ea typeface="Helvetica Neue"/>
                <a:cs typeface="Helvetica Neue"/>
              </a:defRPr>
            </a:pPr>
            <a:r>
              <a:rPr sz="2850" b="1">
                <a:solidFill>
                  <a:srgbClr val="DE4F2A"/>
                </a:solidFill>
                <a:latin typeface="Helvetica Neue"/>
                <a:ea typeface="Helvetica Neue"/>
                <a:cs typeface="Helvetica Neue"/>
              </a:rPr>
              <a:t>UndoProof focuses the review on old/new query</a:t>
            </a:r>
          </a:p>
          <a:p xmlns:a="http://schemas.openxmlformats.org/drawingml/2006/main">
            <a:pPr>
              <a:defRPr sz="2850" b="1">
                <a:solidFill>
                  <a:srgbClr val="DE4F2A"/>
                </a:solidFill>
                <a:latin typeface="Helvetica Neue"/>
                <a:ea typeface="Helvetica Neue"/>
                <a:cs typeface="Helvetica Neue"/>
              </a:defRPr>
            </a:pPr>
            <a:r>
              <a:rPr sz="2850" b="1">
                <a:solidFill>
                  <a:srgbClr val="DE4F2A"/>
                </a:solidFill>
                <a:latin typeface="Helvetica Neue"/>
                <a:ea typeface="Helvetica Neue"/>
                <a:cs typeface="Helvetica Neue"/>
              </a:rPr>
              <a:t>compatibility and data written after deployment.</a:t>
            </a:r>
          </a:p>
        </p:txBody>
      </p:sp>
      <p:sp>
        <p:nvSpPr>
          <p:cNvPr id="5" name="text-45">
            <a:extLst xmlns:a="http://schemas.openxmlformats.org/drawingml/2006/main">
              <a:ext uri="{FF2B5EF4-FFF2-40B4-BE49-F238E27FC236}">
                <a16:creationId xmlns:a16="http://schemas.microsoft.com/office/drawing/2014/main" id="{6D17CE45-44F6-442A-87AB-91AA5BFEBBBB}"/>
              </a:ext>
            </a:extLst>
          </p:cNvPr>
          <p:cNvSpPr>
            <a:spLocks xmlns:a="http://schemas.openxmlformats.org/drawingml/2006/main" noGrp="1"/>
          </p:cNvSpPr>
          <p:nvPr/>
        </p:nvSpPr>
        <p:spPr>
          <a:xfrm xmlns:a="http://schemas.openxmlformats.org/drawingml/2006/main">
            <a:off x="733425" y="52197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5665E"/>
                </a:solidFill>
                <a:latin typeface="Helvetica Neue"/>
                <a:ea typeface="Helvetica Neue"/>
                <a:cs typeface="Helvetica Neue"/>
              </a:defRPr>
            </a:pPr>
            <a:r>
              <a:rPr sz="1950" b="0">
                <a:solidFill>
                  <a:srgbClr val="65665E"/>
                </a:solidFill>
                <a:latin typeface="Helvetica Neue"/>
                <a:ea typeface="Helvetica Neue"/>
                <a:cs typeface="Helvetica Neue"/>
              </a:rPr>
              <a:t>Tested SQL and fixtures only. Full application behavior, concurrency</a:t>
            </a:r>
          </a:p>
          <a:p xmlns:a="http://schemas.openxmlformats.org/drawingml/2006/main">
            <a:pPr>
              <a:defRPr sz="1950" b="0">
                <a:solidFill>
                  <a:srgbClr val="65665E"/>
                </a:solidFill>
                <a:latin typeface="Helvetica Neue"/>
                <a:ea typeface="Helvetica Neue"/>
                <a:cs typeface="Helvetica Neue"/>
              </a:defRPr>
            </a:pPr>
            <a:r>
              <a:rPr sz="1950" b="0">
                <a:solidFill>
                  <a:srgbClr val="65665E"/>
                </a:solidFill>
                <a:latin typeface="Helvetica Neue"/>
                <a:ea typeface="Helvetica Neue"/>
                <a:cs typeface="Helvetica Neue"/>
              </a:rPr>
              <a:t>and production locks remain outside this prototype.</a:t>
            </a:r>
          </a:p>
        </p:txBody>
      </p:sp>
    </p:spTree>
    <p:extLst>
      <p:ext uri="{BB962C8B-B14F-4D97-AF65-F5344CB8AC3E}">
        <p14:creationId xmlns:p14="http://schemas.microsoft.com/office/powerpoint/2010/main" val="2088357669"/>
      </p:ext>
    </p:extLst>
  </p:cSld>
</p:sld>
</file>

<file path=ppt/slides/slide9.xml><?xml version="1.0" encoding="utf-8"?>
<p:sld xmlns:p="http://schemas.openxmlformats.org/presentationml/2006/main">
  <p:cSld>
    <p:bg>
      <p:bgPr>
        <a:solidFill xmlns:a="http://schemas.openxmlformats.org/drawingml/2006/main">
          <a:srgbClr val="25251F"/>
        </a:solidFill>
      </p:bgPr>
    </p:bg>
    <p:spTree>
      <p:nvGrpSpPr>
        <p:cNvPr id="1" name=""/>
        <p:cNvGrpSpPr/>
        <p:nvPr/>
      </p:nvGrpSpPr>
      <p:grpSpPr>
        <a:xfrm xmlns:a="http://schemas.openxmlformats.org/drawingml/2006/main"/>
      </p:grpSpPr>
      <p:sp>
        <p:nvSpPr>
          <p:cNvPr id="7" name="text-46">
            <a:extLst xmlns:a="http://schemas.openxmlformats.org/drawingml/2006/main">
              <a:ext uri="{FF2B5EF4-FFF2-40B4-BE49-F238E27FC236}">
                <a16:creationId xmlns:a16="http://schemas.microsoft.com/office/drawing/2014/main" id="{50836C6A-823D-4175-8203-B26BCE195720}"/>
              </a:ext>
            </a:extLst>
          </p:cNvPr>
          <p:cNvSpPr>
            <a:spLocks xmlns:a="http://schemas.openxmlformats.org/drawingml/2006/main" noGrp="1"/>
          </p:cNvSpPr>
          <p:nvPr/>
        </p:nvSpPr>
        <p:spPr>
          <a:xfrm xmlns:a="http://schemas.openxmlformats.org/drawingml/2006/main">
            <a:off x="666750" y="63436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EB5"/>
                </a:solidFill>
                <a:latin typeface="Helvetica Neue"/>
                <a:ea typeface="Helvetica Neue"/>
                <a:cs typeface="Helvetica Neue"/>
              </a:defRPr>
            </a:pPr>
            <a:r>
              <a:rPr sz="1200" b="0">
                <a:solidFill>
                  <a:srgbClr val="BDBEB5"/>
                </a:solidFill>
                <a:latin typeface="Helvetica Neue"/>
                <a:ea typeface="Helvetica Neue"/>
                <a:cs typeface="Helvetica Neue"/>
              </a:rPr>
              <a:t>UndoProof  /  09</a:t>
            </a:r>
          </a:p>
        </p:txBody>
      </p:sp>
      <p:sp>
        <p:nvSpPr>
          <p:cNvPr id="2" name="text-47">
            <a:extLst xmlns:a="http://schemas.openxmlformats.org/drawingml/2006/main">
              <a:ext uri="{FF2B5EF4-FFF2-40B4-BE49-F238E27FC236}">
                <a16:creationId xmlns:a16="http://schemas.microsoft.com/office/drawing/2014/main" id="{C0F479A2-B1A5-4859-AC36-E7C768D53F14}"/>
              </a:ext>
            </a:extLst>
          </p:cNvPr>
          <p:cNvSpPr>
            <a:spLocks xmlns:a="http://schemas.openxmlformats.org/drawingml/2006/main" noGrp="1"/>
          </p:cNvSpPr>
          <p:nvPr/>
        </p:nvSpPr>
        <p:spPr>
          <a:xfrm xmlns:a="http://schemas.openxmlformats.org/drawingml/2006/main">
            <a:off x="685800" y="1438275"/>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F6F3EB"/>
                </a:solidFill>
                <a:latin typeface="Helvetica Neue"/>
                <a:ea typeface="Helvetica Neue"/>
                <a:cs typeface="Helvetica Neue"/>
              </a:defRPr>
            </a:pPr>
            <a:r>
              <a:rPr sz="5325" b="1">
                <a:solidFill>
                  <a:srgbClr val="F6F3EB"/>
                </a:solidFill>
                <a:latin typeface="Helvetica Neue"/>
                <a:ea typeface="Helvetica Neue"/>
                <a:cs typeface="Helvetica Neue"/>
              </a:rPr>
              <a:t>The way back belongs</a:t>
            </a:r>
          </a:p>
          <a:p xmlns:a="http://schemas.openxmlformats.org/drawingml/2006/main">
            <a:pPr>
              <a:defRPr sz="5325" b="1">
                <a:solidFill>
                  <a:srgbClr val="F6F3EB"/>
                </a:solidFill>
                <a:latin typeface="Helvetica Neue"/>
                <a:ea typeface="Helvetica Neue"/>
                <a:cs typeface="Helvetica Neue"/>
              </a:defRPr>
            </a:pPr>
            <a:r>
              <a:rPr sz="5325" b="1">
                <a:solidFill>
                  <a:srgbClr val="F6F3EB"/>
                </a:solidFill>
                <a:latin typeface="Helvetica Neue"/>
                <a:ea typeface="Helvetica Neue"/>
                <a:cs typeface="Helvetica Neue"/>
              </a:rPr>
              <a:t>in the release review.</a:t>
            </a:r>
          </a:p>
        </p:txBody>
      </p:sp>
      <p:sp>
        <p:nvSpPr>
          <p:cNvPr id="3" name="text-48">
            <a:extLst xmlns:a="http://schemas.openxmlformats.org/drawingml/2006/main">
              <a:ext uri="{FF2B5EF4-FFF2-40B4-BE49-F238E27FC236}">
                <a16:creationId xmlns:a16="http://schemas.microsoft.com/office/drawing/2014/main" id="{30F28C61-D196-455C-A5CB-E2C8C5E11CD4}"/>
              </a:ext>
            </a:extLst>
          </p:cNvPr>
          <p:cNvSpPr>
            <a:spLocks xmlns:a="http://schemas.openxmlformats.org/drawingml/2006/main" noGrp="1"/>
          </p:cNvSpPr>
          <p:nvPr/>
        </p:nvSpPr>
        <p:spPr>
          <a:xfrm xmlns:a="http://schemas.openxmlformats.org/drawingml/2006/main">
            <a:off x="723900" y="42767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E4F2A"/>
                </a:solidFill>
                <a:latin typeface="Helvetica Neue"/>
                <a:ea typeface="Helvetica Neue"/>
                <a:cs typeface="Helvetica Neue"/>
              </a:defRPr>
            </a:pPr>
            <a:r>
              <a:rPr sz="3450" b="1">
                <a:solidFill>
                  <a:srgbClr val="DE4F2A"/>
                </a:solidFill>
                <a:latin typeface="Helvetica Neue"/>
                <a:ea typeface="Helvetica Neue"/>
                <a:cs typeface="Helvetica Neue"/>
              </a:rPr>
              <a:t>UndoProof</a:t>
            </a:r>
          </a:p>
        </p:txBody>
      </p:sp>
      <p:sp>
        <p:nvSpPr>
          <p:cNvPr id="4" name="text-49">
            <a:extLst xmlns:a="http://schemas.openxmlformats.org/drawingml/2006/main">
              <a:ext uri="{FF2B5EF4-FFF2-40B4-BE49-F238E27FC236}">
                <a16:creationId xmlns:a16="http://schemas.microsoft.com/office/drawing/2014/main" id="{515FCE58-9680-43F7-A72E-4D988A7664E4}"/>
              </a:ext>
            </a:extLst>
          </p:cNvPr>
          <p:cNvSpPr>
            <a:spLocks xmlns:a="http://schemas.openxmlformats.org/drawingml/2006/main" noGrp="1"/>
          </p:cNvSpPr>
          <p:nvPr/>
        </p:nvSpPr>
        <p:spPr>
          <a:xfrm xmlns:a="http://schemas.openxmlformats.org/drawingml/2006/main">
            <a:off x="733425" y="50006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3EB"/>
                </a:solidFill>
                <a:latin typeface="Helvetica Neue"/>
                <a:ea typeface="Helvetica Neue"/>
                <a:cs typeface="Helvetica Neue"/>
              </a:defRPr>
            </a:pPr>
            <a:r>
              <a:rPr sz="2250" b="0">
                <a:solidFill>
                  <a:srgbClr val="F6F3EB"/>
                </a:solidFill>
                <a:latin typeface="Helvetica Neue"/>
                <a:ea typeface="Helvetica Neue"/>
                <a:cs typeface="Helvetica Neue"/>
              </a:rPr>
              <a:t>undoproof.web.app</a:t>
            </a:r>
          </a:p>
        </p:txBody>
      </p:sp>
      <p:sp>
        <p:nvSpPr>
          <p:cNvPr id="5" name="text-50">
            <a:extLst xmlns:a="http://schemas.openxmlformats.org/drawingml/2006/main">
              <a:ext uri="{FF2B5EF4-FFF2-40B4-BE49-F238E27FC236}">
                <a16:creationId xmlns:a16="http://schemas.microsoft.com/office/drawing/2014/main" id="{AB7D75E4-C010-4AD7-827A-D4072A843351}"/>
              </a:ext>
            </a:extLst>
          </p:cNvPr>
          <p:cNvSpPr>
            <a:spLocks xmlns:a="http://schemas.openxmlformats.org/drawingml/2006/main" noGrp="1"/>
          </p:cNvSpPr>
          <p:nvPr/>
        </p:nvSpPr>
        <p:spPr>
          <a:xfrm xmlns:a="http://schemas.openxmlformats.org/drawingml/2006/main">
            <a:off x="733425" y="54578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DBEB5"/>
                </a:solidFill>
                <a:latin typeface="Helvetica Neue"/>
                <a:ea typeface="Helvetica Neue"/>
                <a:cs typeface="Helvetica Neue"/>
              </a:defRPr>
            </a:pPr>
            <a:r>
              <a:rPr sz="1650" b="0">
                <a:solidFill>
                  <a:srgbClr val="BDBEB5"/>
                </a:solidFill>
                <a:latin typeface="Helvetica Neue"/>
                <a:ea typeface="Helvetica Neue"/>
                <a:cs typeface="Helvetica Neue"/>
              </a:rPr>
              <a:t>github.com/shi1720/ibm-bob</a:t>
            </a:r>
          </a:p>
        </p:txBody>
      </p:sp>
      <p:sp>
        <p:nvSpPr>
          <p:cNvPr id="6" name="text-51">
            <a:extLst xmlns:a="http://schemas.openxmlformats.org/drawingml/2006/main">
              <a:ext uri="{FF2B5EF4-FFF2-40B4-BE49-F238E27FC236}">
                <a16:creationId xmlns:a16="http://schemas.microsoft.com/office/drawing/2014/main" id="{D26D61FD-219F-456B-A3AE-063027318ACC}"/>
              </a:ext>
            </a:extLst>
          </p:cNvPr>
          <p:cNvSpPr>
            <a:spLocks xmlns:a="http://schemas.openxmlformats.org/drawingml/2006/main" noGrp="1"/>
          </p:cNvSpPr>
          <p:nvPr/>
        </p:nvSpPr>
        <p:spPr>
          <a:xfrm xmlns:a="http://schemas.openxmlformats.org/drawingml/2006/main">
            <a:off x="733425" y="58864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DBEB5"/>
                </a:solidFill>
                <a:latin typeface="Helvetica Neue"/>
                <a:ea typeface="Helvetica Neue"/>
                <a:cs typeface="Helvetica Neue"/>
              </a:defRPr>
            </a:pPr>
            <a:r>
              <a:rPr sz="1650" b="0">
                <a:solidFill>
                  <a:srgbClr val="BDBEB5"/>
                </a:solidFill>
                <a:latin typeface="Helvetica Neue"/>
                <a:ea typeface="Helvetica Neue"/>
                <a:cs typeface="Helvetica Neue"/>
              </a:rPr>
              <a:t>Shivam Gupta</a:t>
            </a:r>
          </a:p>
        </p:txBody>
      </p:sp>
    </p:spTree>
    <p:extLst>
      <p:ext uri="{BB962C8B-B14F-4D97-AF65-F5344CB8AC3E}">
        <p14:creationId xmlns:p14="http://schemas.microsoft.com/office/powerpoint/2010/main" val="1090337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2026-09-27T04:19:14.1490000Z</dcterms:created>
  <dcterms:modified xsi:type="dcterms:W3CDTF">2026-09-27T04:19:14.1490000Z</dcterms:modified>
</coreProperties>
</file>