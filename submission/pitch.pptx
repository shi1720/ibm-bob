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30c6d3331c2442a" /><Relationship Type="http://schemas.openxmlformats.org/officeDocument/2006/relationships/extended-properties" Target="/docProps/app.xml" Id="Rc78382f944064c07" /><Relationship Type="http://schemas.openxmlformats.org/officeDocument/2006/relationships/officeDocument" Target="/ppt/presentation.xml" Id="R6841057d5be04864" /></Relationships>
</file>

<file path=ppt/presentation.xml><?xml version="1.0" encoding="utf-8"?>
<p:presentation xmlns:p="http://schemas.openxmlformats.org/presentationml/2006/main">
  <p:sldMasterIdLst>
    <p:sldMasterId xmlns:r="http://schemas.openxmlformats.org/officeDocument/2006/relationships" id="2147483648" r:id="R6057b895255c4e41"/>
  </p:sldMasterIdLst>
  <p:notesMasterIdLst>
    <p:notesMasterId xmlns:r="http://schemas.openxmlformats.org/officeDocument/2006/relationships" r:id="R60de547fc67b4e2d"/>
  </p:notesMasterIdLst>
  <p:sldIdLst>
    <p:sldId xmlns:r="http://schemas.openxmlformats.org/officeDocument/2006/relationships" id="256" r:id="R6446415ff9b849c3"/>
    <p:sldId xmlns:r="http://schemas.openxmlformats.org/officeDocument/2006/relationships" id="257" r:id="R8aa4ed67f46e4711"/>
    <p:sldId xmlns:r="http://schemas.openxmlformats.org/officeDocument/2006/relationships" id="258" r:id="Rd3495e3590ec4b7b"/>
    <p:sldId xmlns:r="http://schemas.openxmlformats.org/officeDocument/2006/relationships" id="259" r:id="R4e41db4c17ca4084"/>
    <p:sldId xmlns:r="http://schemas.openxmlformats.org/officeDocument/2006/relationships" id="260" r:id="R4de7d93c94114819"/>
    <p:sldId xmlns:r="http://schemas.openxmlformats.org/officeDocument/2006/relationships" id="261" r:id="R71cc80631b544aff"/>
    <p:sldId xmlns:r="http://schemas.openxmlformats.org/officeDocument/2006/relationships" id="262" r:id="Rf3fdf7cc14af4442"/>
    <p:sldId xmlns:r="http://schemas.openxmlformats.org/officeDocument/2006/relationships" id="263" r:id="R5d411755622a4458"/>
    <p:sldId xmlns:r="http://schemas.openxmlformats.org/officeDocument/2006/relationships" id="264" r:id="R8551feac3ee74ce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a29a80d26ad47ed" /><Relationship Type="http://schemas.openxmlformats.org/officeDocument/2006/relationships/slideMaster" Target="/ppt/slideMasters/slideMaster1.xml" Id="R6057b895255c4e41" /><Relationship Type="http://schemas.openxmlformats.org/officeDocument/2006/relationships/notesMaster" Target="/ppt/notesMasters/notesMaster1.xml" Id="R60de547fc67b4e2d" /><Relationship Type="http://schemas.openxmlformats.org/officeDocument/2006/relationships/presProps" Target="/ppt/presProps.xml" Id="R28c7566d71824e8b" /><Relationship Type="http://schemas.openxmlformats.org/officeDocument/2006/relationships/tableStyles" Target="/ppt/tableStyles.xml" Id="R9c317da656f34aaa" /><Relationship Type="http://schemas.openxmlformats.org/officeDocument/2006/relationships/slide" Target="/ppt/slides/slide1.xml" Id="R6446415ff9b849c3" /><Relationship Type="http://schemas.openxmlformats.org/officeDocument/2006/relationships/slide" Target="/ppt/slides/slide2.xml" Id="R8aa4ed67f46e4711" /><Relationship Type="http://schemas.openxmlformats.org/officeDocument/2006/relationships/slide" Target="/ppt/slides/slide3.xml" Id="Rd3495e3590ec4b7b" /><Relationship Type="http://schemas.openxmlformats.org/officeDocument/2006/relationships/slide" Target="/ppt/slides/slide4.xml" Id="R4e41db4c17ca4084" /><Relationship Type="http://schemas.openxmlformats.org/officeDocument/2006/relationships/slide" Target="/ppt/slides/slide5.xml" Id="R4de7d93c94114819" /><Relationship Type="http://schemas.openxmlformats.org/officeDocument/2006/relationships/slide" Target="/ppt/slides/slide6.xml" Id="R71cc80631b544aff" /><Relationship Type="http://schemas.openxmlformats.org/officeDocument/2006/relationships/slide" Target="/ppt/slides/slide7.xml" Id="Rf3fdf7cc14af4442" /><Relationship Type="http://schemas.openxmlformats.org/officeDocument/2006/relationships/slide" Target="/ppt/slides/slide8.xml" Id="R5d411755622a4458" /><Relationship Type="http://schemas.openxmlformats.org/officeDocument/2006/relationships/slide" Target="/ppt/slides/slide9.xml" Id="R8551feac3ee74ce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5e2a3ae82904ba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929101246844443" /><Relationship Type="http://schemas.openxmlformats.org/officeDocument/2006/relationships/notesMaster" Target="/ppt/notesMasters/notesMaster1.xml" Id="R1f3f89a657524049" /></Relationships>
</file>

<file path=ppt/notesSlides/_rels/notesSlide2.xml.rels>&#65279;<?xml version="1.0" encoding="utf-8"?><Relationships xmlns="http://schemas.openxmlformats.org/package/2006/relationships"><Relationship Type="http://schemas.openxmlformats.org/officeDocument/2006/relationships/slide" Target="/ppt/slides/slide2.xml" Id="R0844c5232eb74a1c" /><Relationship Type="http://schemas.openxmlformats.org/officeDocument/2006/relationships/notesMaster" Target="/ppt/notesMasters/notesMaster1.xml" Id="R2001575f09224df0" /></Relationships>
</file>

<file path=ppt/notesSlides/_rels/notesSlide3.xml.rels>&#65279;<?xml version="1.0" encoding="utf-8"?><Relationships xmlns="http://schemas.openxmlformats.org/package/2006/relationships"><Relationship Type="http://schemas.openxmlformats.org/officeDocument/2006/relationships/slide" Target="/ppt/slides/slide3.xml" Id="R15e85286f88a4c80" /><Relationship Type="http://schemas.openxmlformats.org/officeDocument/2006/relationships/notesMaster" Target="/ppt/notesMasters/notesMaster1.xml" Id="R68aef04eb4ef48ea" /></Relationships>
</file>

<file path=ppt/notesSlides/_rels/notesSlide4.xml.rels>&#65279;<?xml version="1.0" encoding="utf-8"?><Relationships xmlns="http://schemas.openxmlformats.org/package/2006/relationships"><Relationship Type="http://schemas.openxmlformats.org/officeDocument/2006/relationships/slide" Target="/ppt/slides/slide4.xml" Id="R6b347789670f45b0" /><Relationship Type="http://schemas.openxmlformats.org/officeDocument/2006/relationships/notesMaster" Target="/ppt/notesMasters/notesMaster1.xml" Id="R3ef2b7bee795414b" /></Relationships>
</file>

<file path=ppt/notesSlides/_rels/notesSlide5.xml.rels>&#65279;<?xml version="1.0" encoding="utf-8"?><Relationships xmlns="http://schemas.openxmlformats.org/package/2006/relationships"><Relationship Type="http://schemas.openxmlformats.org/officeDocument/2006/relationships/slide" Target="/ppt/slides/slide5.xml" Id="R7cae99171a8349dc" /><Relationship Type="http://schemas.openxmlformats.org/officeDocument/2006/relationships/notesMaster" Target="/ppt/notesMasters/notesMaster1.xml" Id="R873da7006c80436d" /></Relationships>
</file>

<file path=ppt/notesSlides/_rels/notesSlide6.xml.rels>&#65279;<?xml version="1.0" encoding="utf-8"?><Relationships xmlns="http://schemas.openxmlformats.org/package/2006/relationships"><Relationship Type="http://schemas.openxmlformats.org/officeDocument/2006/relationships/slide" Target="/ppt/slides/slide6.xml" Id="R82b98fe40a4f4f72" /><Relationship Type="http://schemas.openxmlformats.org/officeDocument/2006/relationships/notesMaster" Target="/ppt/notesMasters/notesMaster1.xml" Id="Rbfdc97bc8662484d" /></Relationships>
</file>

<file path=ppt/notesSlides/_rels/notesSlide7.xml.rels>&#65279;<?xml version="1.0" encoding="utf-8"?><Relationships xmlns="http://schemas.openxmlformats.org/package/2006/relationships"><Relationship Type="http://schemas.openxmlformats.org/officeDocument/2006/relationships/slide" Target="/ppt/slides/slide7.xml" Id="R3f53bedf6f6747d6" /><Relationship Type="http://schemas.openxmlformats.org/officeDocument/2006/relationships/notesMaster" Target="/ppt/notesMasters/notesMaster1.xml" Id="R06180b917e5a405e" /></Relationships>
</file>

<file path=ppt/notesSlides/_rels/notesSlide8.xml.rels>&#65279;<?xml version="1.0" encoding="utf-8"?><Relationships xmlns="http://schemas.openxmlformats.org/package/2006/relationships"><Relationship Type="http://schemas.openxmlformats.org/officeDocument/2006/relationships/slide" Target="/ppt/slides/slide8.xml" Id="Red62852a1a434da0" /><Relationship Type="http://schemas.openxmlformats.org/officeDocument/2006/relationships/notesMaster" Target="/ppt/notesMasters/notesMaster1.xml" Id="Rbbd09f12f776449b" /></Relationships>
</file>

<file path=ppt/notesSlides/_rels/notesSlide9.xml.rels>&#65279;<?xml version="1.0" encoding="utf-8"?><Relationships xmlns="http://schemas.openxmlformats.org/package/2006/relationships"><Relationship Type="http://schemas.openxmlformats.org/officeDocument/2006/relationships/slide" Target="/ppt/slides/slide9.xml" Id="Rf2121ced0cca49bd" /><Relationship Type="http://schemas.openxmlformats.org/officeDocument/2006/relationships/notesMaster" Target="/ppt/notesMasters/notesMaster1.xml" Id="Rb00a87074e2747c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Created by Shivam Gupta for IBM Bob 2.0 Hackathon. Product description and scope: docs/BUILD-BRIEF.md. No claims of production certification.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Illustrative synthetic scenario implemented in the sample release contracts, not a report of an actual customer incident. The snapshot restoration path can execute successfully while discarding rows inserted after the snapshot.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Method and scope follow docs/BUILD-BRIEF.md. PGlite runs PostgreSQL in WebAssembly: https://pglite.dev/docs/about. These are SQL query contracts, not a full application process. Independent branches isolate expected failures.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running-product screenshot: submission/media/data-loss-modal.png. Original synthetic checkout scenario. Genuine element screenshot of the evidence modal. Result: four rows before rollback, three afterward. The invariant selects id, customer and total_cents. This screenshot is separate from the CLI measurements on the following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submission/cli-blocked-report.json and submission/cli-repaired-report.json, generated September 27, 2026. One measured engine invocation per condition, Darwin arm64, Node.js 22.16.0, PGlite 0.3.16. Duration excludes installation, CLI startup, contract authoring, review and repair preparation. Exact synthetic invariant projection; no general productivity claim. Reproduction: npm run rehearse -- demo:snapshot --out=blocked.json ; npm run rehearse -- demo:snapshot --repair --out=repaired.json.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Current implemented capability: exported manual prompt with exact release contract and execution evidence. Source: submission/media/recorded-bob-handoff.md and docs/BOB-WORKFLOW.md. This slide describes a proposed manual IDE workflow. It does not claim completed Bob implementation or live Bob API integration. Genuine completed-task evidence is required separately for hackathon eligibility.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Commercial hypotheses, not customers, revenue, or validated pricing. Details and validation plan: submission/COMMERCIAL.md. Proposed paid features may exceed the current prototype.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checked September 27, 2026: https://www.atlasgo.io/versioned/down ; https://docs.liquibase.com/secure/reference-guide-5-1-1/init-update-and-rollback-commands/update-testing-rollback ; https://www.red-gate.com/products/flyway/ ; https://github.com/ankane/strong_migrations . PGlite limits: https://pglite.dev/docs/pglite-socket . No claim of exclusive capability or production safety.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Verified public guest demo: https://shi1720.github.io/ibm-bob/ . Public repository: https://github.com/shi1720/ibm-bob . Created by Shivam Gupta with AI-assisted development. Account history requires the included self-hosted server.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e4b7aa5af2a4c5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82af060a03a475a" /><Relationship Type="http://schemas.openxmlformats.org/officeDocument/2006/relationships/slideLayout" Target="/ppt/slideLayouts/slideLayout1.xml" Id="Rb4658a4fc1ce443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4658a4fc1ce443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3c5c8e1edd74aa7" /><Relationship Type="http://schemas.openxmlformats.org/officeDocument/2006/relationships/notesSlide" Target="/ppt/notesSlides/notesSlide1.xml" Id="Rbaddbfe270b4465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40fdde169d6496e" /><Relationship Type="http://schemas.openxmlformats.org/officeDocument/2006/relationships/notesSlide" Target="/ppt/notesSlides/notesSlide2.xml" Id="R047083a1a1bc4dc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3a16b1f67ed4bf5" /><Relationship Type="http://schemas.openxmlformats.org/officeDocument/2006/relationships/notesSlide" Target="/ppt/notesSlides/notesSlide3.xml" Id="R4f38ccf1c60f416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e82459e59644606" /><Relationship Type="http://schemas.openxmlformats.org/officeDocument/2006/relationships/image" Target="/ppt/media/image.png" Id="R6a86596e0d194ca6" /><Relationship Type="http://schemas.openxmlformats.org/officeDocument/2006/relationships/notesSlide" Target="/ppt/notesSlides/notesSlide4.xml" Id="R63679340c26e410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790701a3e804afc" /><Relationship Type="http://schemas.openxmlformats.org/officeDocument/2006/relationships/notesSlide" Target="/ppt/notesSlides/notesSlide5.xml" Id="R8cd73d39aab8476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c70cef492ef41c2" /><Relationship Type="http://schemas.openxmlformats.org/officeDocument/2006/relationships/notesSlide" Target="/ppt/notesSlides/notesSlide6.xml" Id="R362acd2412f54421"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7190a34f8124472" /><Relationship Type="http://schemas.openxmlformats.org/officeDocument/2006/relationships/notesSlide" Target="/ppt/notesSlides/notesSlide7.xml" Id="R39a405890cf847a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02b6f6edac745ac" /><Relationship Type="http://schemas.openxmlformats.org/officeDocument/2006/relationships/notesSlide" Target="/ppt/notesSlides/notesSlide8.xml" Id="R7d02b970acac4e7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987ee7790ad4428" /><Relationship Type="http://schemas.openxmlformats.org/officeDocument/2006/relationships/notesSlide" Target="/ppt/notesSlides/notesSlide9.xml" Id="R5c469e4988944afa" /></Relationships>
</file>

<file path=ppt/slides/slide1.xml><?xml version="1.0" encoding="utf-8"?>
<p:sld xmlns:p="http://schemas.openxmlformats.org/presentationml/2006/main">
  <p:cSld>
    <p:bg>
      <p:bgPr>
        <a:solidFill xmlns:a="http://schemas.openxmlformats.org/drawingml/2006/main">
          <a:srgbClr val="F6F3EB"/>
        </a:solidFill>
      </p:bgPr>
    </p:bg>
    <p:spTree>
      <p:nvGrpSpPr>
        <p:cNvPr id="1" name=""/>
        <p:cNvGrpSpPr/>
        <p:nvPr/>
      </p:nvGrpSpPr>
      <p:grpSpPr>
        <a:xfrm xmlns:a="http://schemas.openxmlformats.org/drawingml/2006/main"/>
      </p:grpSpPr>
      <p:sp>
        <p:nvSpPr>
          <p:cNvPr id="6" name="text-0">
            <a:extLst xmlns:a="http://schemas.openxmlformats.org/drawingml/2006/main">
              <a:ext uri="{FF2B5EF4-FFF2-40B4-BE49-F238E27FC236}">
                <a16:creationId xmlns:a16="http://schemas.microsoft.com/office/drawing/2014/main" id="{A2D82C96-5D02-4106-8267-F5461C5FEAD2}"/>
              </a:ext>
            </a:extLst>
          </p:cNvPr>
          <p:cNvSpPr>
            <a:spLocks xmlns:a="http://schemas.openxmlformats.org/drawingml/2006/main" noGrp="1"/>
          </p:cNvSpPr>
          <p:nvPr/>
        </p:nvSpPr>
        <p:spPr>
          <a:xfrm xmlns:a="http://schemas.openxmlformats.org/drawingml/2006/main">
            <a:off x="647700" y="1371600"/>
            <a:ext cx="109537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800" b="1">
                <a:solidFill>
                  <a:srgbClr val="25251F"/>
                </a:solidFill>
                <a:latin typeface="Helvetica Neue"/>
                <a:ea typeface="Helvetica Neue"/>
                <a:cs typeface="Helvetica Neue"/>
              </a:defRPr>
            </a:pPr>
            <a:r>
              <a:rPr sz="7800" b="1">
                <a:solidFill>
                  <a:srgbClr val="25251F"/>
                </a:solidFill>
                <a:latin typeface="Helvetica Neue"/>
                <a:ea typeface="Helvetica Neue"/>
                <a:cs typeface="Helvetica Neue"/>
              </a:rPr>
              <a:t>UndoProof</a:t>
            </a:r>
          </a:p>
        </p:txBody>
      </p:sp>
      <p:sp>
        <p:nvSpPr>
          <p:cNvPr id="2" name="text-1">
            <a:extLst xmlns:a="http://schemas.openxmlformats.org/drawingml/2006/main">
              <a:ext uri="{FF2B5EF4-FFF2-40B4-BE49-F238E27FC236}">
                <a16:creationId xmlns:a16="http://schemas.microsoft.com/office/drawing/2014/main" id="{49A181BC-82BF-4184-810B-C4822C9B795B}"/>
              </a:ext>
            </a:extLst>
          </p:cNvPr>
          <p:cNvSpPr>
            <a:spLocks xmlns:a="http://schemas.openxmlformats.org/drawingml/2006/main" noGrp="1"/>
          </p:cNvSpPr>
          <p:nvPr/>
        </p:nvSpPr>
        <p:spPr>
          <a:xfrm xmlns:a="http://schemas.openxmlformats.org/drawingml/2006/main">
            <a:off x="685800" y="2724150"/>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050" b="0">
                <a:solidFill>
                  <a:srgbClr val="DE4F2A"/>
                </a:solidFill>
                <a:latin typeface="Helvetica Neue"/>
                <a:ea typeface="Helvetica Neue"/>
                <a:cs typeface="Helvetica Neue"/>
              </a:defRPr>
            </a:pPr>
            <a:r>
              <a:rPr sz="4050" b="0">
                <a:solidFill>
                  <a:srgbClr val="DE4F2A"/>
                </a:solidFill>
                <a:latin typeface="Helvetica Neue"/>
                <a:ea typeface="Helvetica Neue"/>
                <a:cs typeface="Helvetica Neue"/>
              </a:rPr>
              <a:t>Prove the way back</a:t>
            </a:r>
          </a:p>
        </p:txBody>
      </p:sp>
      <p:sp>
        <p:nvSpPr>
          <p:cNvPr id="3" name="text-2">
            <a:extLst xmlns:a="http://schemas.openxmlformats.org/drawingml/2006/main">
              <a:ext uri="{FF2B5EF4-FFF2-40B4-BE49-F238E27FC236}">
                <a16:creationId xmlns:a16="http://schemas.microsoft.com/office/drawing/2014/main" id="{37345105-F5F8-4AB2-8794-59136C94054E}"/>
              </a:ext>
            </a:extLst>
          </p:cNvPr>
          <p:cNvSpPr>
            <a:spLocks xmlns:a="http://schemas.openxmlformats.org/drawingml/2006/main" noGrp="1"/>
          </p:cNvSpPr>
          <p:nvPr/>
        </p:nvSpPr>
        <p:spPr>
          <a:xfrm xmlns:a="http://schemas.openxmlformats.org/drawingml/2006/main">
            <a:off x="714375" y="3905250"/>
            <a:ext cx="9525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65665E"/>
                </a:solidFill>
                <a:latin typeface="Helvetica Neue"/>
                <a:ea typeface="Helvetica Neue"/>
                <a:cs typeface="Helvetica Neue"/>
              </a:defRPr>
            </a:pPr>
            <a:r>
              <a:rPr sz="2250" b="0">
                <a:solidFill>
                  <a:srgbClr val="65665E"/>
                </a:solidFill>
                <a:latin typeface="Helvetica Neue"/>
                <a:ea typeface="Helvetica Neue"/>
                <a:cs typeface="Helvetica Neue"/>
              </a:rPr>
              <a:t>PostgreSQL rollback rehearsal</a:t>
            </a:r>
          </a:p>
        </p:txBody>
      </p:sp>
      <p:sp>
        <p:nvSpPr>
          <p:cNvPr id="4" name="text-3">
            <a:extLst xmlns:a="http://schemas.openxmlformats.org/drawingml/2006/main">
              <a:ext uri="{FF2B5EF4-FFF2-40B4-BE49-F238E27FC236}">
                <a16:creationId xmlns:a16="http://schemas.microsoft.com/office/drawing/2014/main" id="{21850B05-5D02-4FD0-A867-7F54BE6F4C7F}"/>
              </a:ext>
            </a:extLst>
          </p:cNvPr>
          <p:cNvSpPr>
            <a:spLocks xmlns:a="http://schemas.openxmlformats.org/drawingml/2006/main" noGrp="1"/>
          </p:cNvSpPr>
          <p:nvPr/>
        </p:nvSpPr>
        <p:spPr>
          <a:xfrm xmlns:a="http://schemas.openxmlformats.org/drawingml/2006/main">
            <a:off x="714375" y="5419725"/>
            <a:ext cx="666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25251F"/>
                </a:solidFill>
                <a:latin typeface="Helvetica Neue"/>
                <a:ea typeface="Helvetica Neue"/>
                <a:cs typeface="Helvetica Neue"/>
              </a:defRPr>
            </a:pPr>
            <a:r>
              <a:rPr sz="2100" b="1">
                <a:solidFill>
                  <a:srgbClr val="25251F"/>
                </a:solidFill>
                <a:latin typeface="Helvetica Neue"/>
                <a:ea typeface="Helvetica Neue"/>
                <a:cs typeface="Helvetica Neue"/>
              </a:rPr>
              <a:t>Shivam Gupta</a:t>
            </a:r>
          </a:p>
        </p:txBody>
      </p:sp>
      <p:sp>
        <p:nvSpPr>
          <p:cNvPr id="5" name="text-4">
            <a:extLst xmlns:a="http://schemas.openxmlformats.org/drawingml/2006/main">
              <a:ext uri="{FF2B5EF4-FFF2-40B4-BE49-F238E27FC236}">
                <a16:creationId xmlns:a16="http://schemas.microsoft.com/office/drawing/2014/main" id="{253E0E19-EF8F-4DD0-A163-2073D7141734}"/>
              </a:ext>
            </a:extLst>
          </p:cNvPr>
          <p:cNvSpPr>
            <a:spLocks xmlns:a="http://schemas.openxmlformats.org/drawingml/2006/main" noGrp="1"/>
          </p:cNvSpPr>
          <p:nvPr/>
        </p:nvSpPr>
        <p:spPr>
          <a:xfrm xmlns:a="http://schemas.openxmlformats.org/drawingml/2006/main">
            <a:off x="714375" y="5876925"/>
            <a:ext cx="952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65665E"/>
                </a:solidFill>
                <a:latin typeface="Helvetica Neue"/>
                <a:ea typeface="Helvetica Neue"/>
                <a:cs typeface="Helvetica Neue"/>
              </a:defRPr>
            </a:pPr>
            <a:r>
              <a:rPr sz="1500" b="0">
                <a:solidFill>
                  <a:srgbClr val="65665E"/>
                </a:solidFill>
                <a:latin typeface="Helvetica Neue"/>
                <a:ea typeface="Helvetica Neue"/>
                <a:cs typeface="Helvetica Neue"/>
              </a:rPr>
              <a:t>IBM Bob 2.0 Hackathon  /  September 2026</a:t>
            </a:r>
          </a:p>
        </p:txBody>
      </p:sp>
    </p:spTree>
    <p:extLst>
      <p:ext uri="{BB962C8B-B14F-4D97-AF65-F5344CB8AC3E}">
        <p14:creationId xmlns:p14="http://schemas.microsoft.com/office/powerpoint/2010/main" val="2038304667"/>
      </p:ext>
    </p:extLst>
  </p:cSld>
</p:sld>
</file>

<file path=ppt/slides/slide2.xml><?xml version="1.0" encoding="utf-8"?>
<p:sld xmlns:p="http://schemas.openxmlformats.org/presentationml/2006/main">
  <p:cSld>
    <p:bg>
      <p:bgPr>
        <a:solidFill xmlns:a="http://schemas.openxmlformats.org/drawingml/2006/main">
          <a:srgbClr val="F6F3EB"/>
        </a:solidFill>
      </p:bgPr>
    </p:bg>
    <p:spTree>
      <p:nvGrpSpPr>
        <p:cNvPr id="1" name=""/>
        <p:cNvGrpSpPr/>
        <p:nvPr/>
      </p:nvGrpSpPr>
      <p:grpSpPr>
        <a:xfrm xmlns:a="http://schemas.openxmlformats.org/drawingml/2006/main"/>
      </p:grpSpPr>
      <p:sp>
        <p:nvSpPr>
          <p:cNvPr id="7" name="text-5">
            <a:extLst xmlns:a="http://schemas.openxmlformats.org/drawingml/2006/main">
              <a:ext uri="{FF2B5EF4-FFF2-40B4-BE49-F238E27FC236}">
                <a16:creationId xmlns:a16="http://schemas.microsoft.com/office/drawing/2014/main" id="{EAD0E266-330C-40B0-B77D-5AC63CB5E2A4}"/>
              </a:ext>
            </a:extLst>
          </p:cNvPr>
          <p:cNvSpPr>
            <a:spLocks xmlns:a="http://schemas.openxmlformats.org/drawingml/2006/main" noGrp="1"/>
          </p:cNvSpPr>
          <p:nvPr/>
        </p:nvSpPr>
        <p:spPr>
          <a:xfrm xmlns:a="http://schemas.openxmlformats.org/drawingml/2006/main">
            <a:off x="666750" y="59055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750" b="1">
                <a:solidFill>
                  <a:srgbClr val="25251F"/>
                </a:solidFill>
                <a:latin typeface="Helvetica Neue"/>
                <a:ea typeface="Helvetica Neue"/>
                <a:cs typeface="Helvetica Neue"/>
              </a:defRPr>
            </a:pPr>
            <a:r>
              <a:rPr sz="3750" b="1">
                <a:solidFill>
                  <a:srgbClr val="25251F"/>
                </a:solidFill>
                <a:latin typeface="Helvetica Neue"/>
                <a:ea typeface="Helvetica Neue"/>
                <a:cs typeface="Helvetica Neue"/>
              </a:rPr>
              <a:t>The order that disappears</a:t>
            </a:r>
          </a:p>
        </p:txBody>
      </p:sp>
      <p:sp>
        <p:nvSpPr>
          <p:cNvPr id="2" name="text-6">
            <a:extLst xmlns:a="http://schemas.openxmlformats.org/drawingml/2006/main">
              <a:ext uri="{FF2B5EF4-FFF2-40B4-BE49-F238E27FC236}">
                <a16:creationId xmlns:a16="http://schemas.microsoft.com/office/drawing/2014/main" id="{232585C4-72CA-4EA6-815B-312FA00A4EBC}"/>
              </a:ext>
            </a:extLst>
          </p:cNvPr>
          <p:cNvSpPr>
            <a:spLocks xmlns:a="http://schemas.openxmlformats.org/drawingml/2006/main" noGrp="1"/>
          </p:cNvSpPr>
          <p:nvPr/>
        </p:nvSpPr>
        <p:spPr>
          <a:xfrm xmlns:a="http://schemas.openxmlformats.org/drawingml/2006/main">
            <a:off x="666750" y="6343650"/>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5665E"/>
                </a:solidFill>
                <a:latin typeface="Helvetica Neue"/>
                <a:ea typeface="Helvetica Neue"/>
                <a:cs typeface="Helvetica Neue"/>
              </a:defRPr>
            </a:pPr>
            <a:r>
              <a:rPr sz="1200" b="0">
                <a:solidFill>
                  <a:srgbClr val="65665E"/>
                </a:solidFill>
                <a:latin typeface="Helvetica Neue"/>
                <a:ea typeface="Helvetica Neue"/>
                <a:cs typeface="Helvetica Neue"/>
              </a:rPr>
              <a:t>UndoProof  /  02</a:t>
            </a:r>
          </a:p>
        </p:txBody>
      </p:sp>
      <p:sp>
        <p:nvSpPr>
          <p:cNvPr id="3" name="text-7">
            <a:extLst xmlns:a="http://schemas.openxmlformats.org/drawingml/2006/main">
              <a:ext uri="{FF2B5EF4-FFF2-40B4-BE49-F238E27FC236}">
                <a16:creationId xmlns:a16="http://schemas.microsoft.com/office/drawing/2014/main" id="{ABA81635-40F9-483B-8738-761CAD407E45}"/>
              </a:ext>
            </a:extLst>
          </p:cNvPr>
          <p:cNvSpPr>
            <a:spLocks xmlns:a="http://schemas.openxmlformats.org/drawingml/2006/main" noGrp="1"/>
          </p:cNvSpPr>
          <p:nvPr/>
        </p:nvSpPr>
        <p:spPr>
          <a:xfrm xmlns:a="http://schemas.openxmlformats.org/drawingml/2006/main">
            <a:off x="704850" y="2009775"/>
            <a:ext cx="10382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0">
                <a:solidFill>
                  <a:srgbClr val="25251F"/>
                </a:solidFill>
                <a:latin typeface="Helvetica Neue"/>
                <a:ea typeface="Helvetica Neue"/>
                <a:cs typeface="Helvetica Neue"/>
              </a:defRPr>
            </a:pPr>
            <a:r>
              <a:rPr sz="3825" b="0">
                <a:solidFill>
                  <a:srgbClr val="25251F"/>
                </a:solidFill>
                <a:latin typeface="Helvetica Neue"/>
                <a:ea typeface="Helvetica Neue"/>
                <a:cs typeface="Helvetica Neue"/>
              </a:rPr>
              <a:t>The release succeeds.</a:t>
            </a:r>
          </a:p>
        </p:txBody>
      </p:sp>
      <p:sp>
        <p:nvSpPr>
          <p:cNvPr id="4" name="text-8">
            <a:extLst xmlns:a="http://schemas.openxmlformats.org/drawingml/2006/main">
              <a:ext uri="{FF2B5EF4-FFF2-40B4-BE49-F238E27FC236}">
                <a16:creationId xmlns:a16="http://schemas.microsoft.com/office/drawing/2014/main" id="{D89A35C4-1CA5-4CF4-AF10-73B3A3773DC6}"/>
              </a:ext>
            </a:extLst>
          </p:cNvPr>
          <p:cNvSpPr>
            <a:spLocks xmlns:a="http://schemas.openxmlformats.org/drawingml/2006/main" noGrp="1"/>
          </p:cNvSpPr>
          <p:nvPr/>
        </p:nvSpPr>
        <p:spPr>
          <a:xfrm xmlns:a="http://schemas.openxmlformats.org/drawingml/2006/main">
            <a:off x="704850" y="2943225"/>
            <a:ext cx="10382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0">
                <a:solidFill>
                  <a:srgbClr val="25251F"/>
                </a:solidFill>
                <a:latin typeface="Helvetica Neue"/>
                <a:ea typeface="Helvetica Neue"/>
                <a:cs typeface="Helvetica Neue"/>
              </a:defRPr>
            </a:pPr>
            <a:r>
              <a:rPr sz="3825" b="0">
                <a:solidFill>
                  <a:srgbClr val="25251F"/>
                </a:solidFill>
                <a:latin typeface="Helvetica Neue"/>
                <a:ea typeface="Helvetica Neue"/>
                <a:cs typeface="Helvetica Neue"/>
              </a:rPr>
              <a:t>A customer places an order.</a:t>
            </a:r>
          </a:p>
        </p:txBody>
      </p:sp>
      <p:sp>
        <p:nvSpPr>
          <p:cNvPr id="5" name="text-9">
            <a:extLst xmlns:a="http://schemas.openxmlformats.org/drawingml/2006/main">
              <a:ext uri="{FF2B5EF4-FFF2-40B4-BE49-F238E27FC236}">
                <a16:creationId xmlns:a16="http://schemas.microsoft.com/office/drawing/2014/main" id="{6BBF8590-49D4-4A98-9AD9-0A4A17467EE8}"/>
              </a:ext>
            </a:extLst>
          </p:cNvPr>
          <p:cNvSpPr>
            <a:spLocks xmlns:a="http://schemas.openxmlformats.org/drawingml/2006/main" noGrp="1"/>
          </p:cNvSpPr>
          <p:nvPr/>
        </p:nvSpPr>
        <p:spPr>
          <a:xfrm xmlns:a="http://schemas.openxmlformats.org/drawingml/2006/main">
            <a:off x="704850" y="3876675"/>
            <a:ext cx="10382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DE4F2A"/>
                </a:solidFill>
                <a:latin typeface="Helvetica Neue"/>
                <a:ea typeface="Helvetica Neue"/>
                <a:cs typeface="Helvetica Neue"/>
              </a:defRPr>
            </a:pPr>
            <a:r>
              <a:rPr sz="3825" b="1">
                <a:solidFill>
                  <a:srgbClr val="DE4F2A"/>
                </a:solidFill>
                <a:latin typeface="Helvetica Neue"/>
                <a:ea typeface="Helvetica Neue"/>
                <a:cs typeface="Helvetica Neue"/>
              </a:rPr>
              <a:t>The rollback erases it.</a:t>
            </a:r>
          </a:p>
        </p:txBody>
      </p:sp>
      <p:sp>
        <p:nvSpPr>
          <p:cNvPr id="6" name="text-10">
            <a:extLst xmlns:a="http://schemas.openxmlformats.org/drawingml/2006/main">
              <a:ext uri="{FF2B5EF4-FFF2-40B4-BE49-F238E27FC236}">
                <a16:creationId xmlns:a16="http://schemas.microsoft.com/office/drawing/2014/main" id="{5EF3926A-C937-485E-83BC-2F8DEBA03F60}"/>
              </a:ext>
            </a:extLst>
          </p:cNvPr>
          <p:cNvSpPr>
            <a:spLocks xmlns:a="http://schemas.openxmlformats.org/drawingml/2006/main" noGrp="1"/>
          </p:cNvSpPr>
          <p:nvPr/>
        </p:nvSpPr>
        <p:spPr>
          <a:xfrm xmlns:a="http://schemas.openxmlformats.org/drawingml/2006/main">
            <a:off x="733425" y="5257800"/>
            <a:ext cx="1028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65665E"/>
                </a:solidFill>
                <a:latin typeface="Helvetica Neue"/>
                <a:ea typeface="Helvetica Neue"/>
                <a:cs typeface="Helvetica Neue"/>
              </a:defRPr>
            </a:pPr>
            <a:r>
              <a:rPr sz="2250" b="0">
                <a:solidFill>
                  <a:srgbClr val="65665E"/>
                </a:solidFill>
                <a:latin typeface="Helvetica Neue"/>
                <a:ea typeface="Helvetica Neue"/>
                <a:cs typeface="Helvetica Neue"/>
              </a:rPr>
              <a:t>SQL success does not establish data preservation.</a:t>
            </a:r>
          </a:p>
        </p:txBody>
      </p:sp>
    </p:spTree>
    <p:extLst>
      <p:ext uri="{BB962C8B-B14F-4D97-AF65-F5344CB8AC3E}">
        <p14:creationId xmlns:p14="http://schemas.microsoft.com/office/powerpoint/2010/main" val="813335834"/>
      </p:ext>
    </p:extLst>
  </p:cSld>
</p:sld>
</file>

<file path=ppt/slides/slide3.xml><?xml version="1.0" encoding="utf-8"?>
<p:sld xmlns:p="http://schemas.openxmlformats.org/presentationml/2006/main">
  <p:cSld>
    <p:bg>
      <p:bgPr>
        <a:solidFill xmlns:a="http://schemas.openxmlformats.org/drawingml/2006/main">
          <a:srgbClr val="F6F3EB"/>
        </a:solidFill>
      </p:bgPr>
    </p:bg>
    <p:spTree>
      <p:nvGrpSpPr>
        <p:cNvPr id="1" name=""/>
        <p:cNvGrpSpPr/>
        <p:nvPr/>
      </p:nvGrpSpPr>
      <p:grpSpPr>
        <a:xfrm xmlns:a="http://schemas.openxmlformats.org/drawingml/2006/main"/>
      </p:grpSpPr>
      <p:sp>
        <p:nvSpPr>
          <p:cNvPr id="5" name="text-11">
            <a:extLst xmlns:a="http://schemas.openxmlformats.org/drawingml/2006/main">
              <a:ext uri="{FF2B5EF4-FFF2-40B4-BE49-F238E27FC236}">
                <a16:creationId xmlns:a16="http://schemas.microsoft.com/office/drawing/2014/main" id="{85F51457-A9CF-4C8A-8505-92A03A4A5446}"/>
              </a:ext>
            </a:extLst>
          </p:cNvPr>
          <p:cNvSpPr>
            <a:spLocks xmlns:a="http://schemas.openxmlformats.org/drawingml/2006/main" noGrp="1"/>
          </p:cNvSpPr>
          <p:nvPr/>
        </p:nvSpPr>
        <p:spPr>
          <a:xfrm xmlns:a="http://schemas.openxmlformats.org/drawingml/2006/main">
            <a:off x="666750" y="59055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750" b="1">
                <a:solidFill>
                  <a:srgbClr val="25251F"/>
                </a:solidFill>
                <a:latin typeface="Helvetica Neue"/>
                <a:ea typeface="Helvetica Neue"/>
                <a:cs typeface="Helvetica Neue"/>
              </a:defRPr>
            </a:pPr>
            <a:r>
              <a:rPr sz="3750" b="1">
                <a:solidFill>
                  <a:srgbClr val="25251F"/>
                </a:solidFill>
                <a:latin typeface="Helvetica Neue"/>
                <a:ea typeface="Helvetica Neue"/>
                <a:cs typeface="Helvetica Neue"/>
              </a:rPr>
              <a:t>A release contract, executed</a:t>
            </a:r>
          </a:p>
        </p:txBody>
      </p:sp>
      <p:sp>
        <p:nvSpPr>
          <p:cNvPr id="2" name="text-12">
            <a:extLst xmlns:a="http://schemas.openxmlformats.org/drawingml/2006/main">
              <a:ext uri="{FF2B5EF4-FFF2-40B4-BE49-F238E27FC236}">
                <a16:creationId xmlns:a16="http://schemas.microsoft.com/office/drawing/2014/main" id="{D989C822-A71A-4597-B03B-A5BFA4231048}"/>
              </a:ext>
            </a:extLst>
          </p:cNvPr>
          <p:cNvSpPr>
            <a:spLocks xmlns:a="http://schemas.openxmlformats.org/drawingml/2006/main" noGrp="1"/>
          </p:cNvSpPr>
          <p:nvPr/>
        </p:nvSpPr>
        <p:spPr>
          <a:xfrm xmlns:a="http://schemas.openxmlformats.org/drawingml/2006/main">
            <a:off x="666750" y="6343650"/>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5665E"/>
                </a:solidFill>
                <a:latin typeface="Helvetica Neue"/>
                <a:ea typeface="Helvetica Neue"/>
                <a:cs typeface="Helvetica Neue"/>
              </a:defRPr>
            </a:pPr>
            <a:r>
              <a:rPr sz="1200" b="0">
                <a:solidFill>
                  <a:srgbClr val="65665E"/>
                </a:solidFill>
                <a:latin typeface="Helvetica Neue"/>
                <a:ea typeface="Helvetica Neue"/>
                <a:cs typeface="Helvetica Neue"/>
              </a:rPr>
              <a:t>UndoProof  /  03</a:t>
            </a:r>
          </a:p>
        </p:txBody>
      </p:sp>
      <p:graphicFrame>
        <p:nvGraphicFramePr>
          <p:cNvPr id="7" name=""/>
          <p:cNvGraphicFramePr/>
          <p:nvPr/>
        </p:nvGraphicFramePr>
        <p:xfrm>
          <a:off xmlns:a="http://schemas.openxmlformats.org/drawingml/2006/main" x="704850" y="1924050"/>
          <a:ext xmlns:a="http://schemas.openxmlformats.org/drawingml/2006/main" cx="10782300" cy="3067050"/>
        </p:xfrm>
        <a:graphic xmlns:a="http://schemas.openxmlformats.org/drawingml/2006/main">
          <a:graphicData uri="http://schemas.openxmlformats.org/drawingml/2006/table">
            <a:tbl>
              <a:tblPr/>
              <a:tblGrid>
                <a:gridCol w="3238500"/>
                <a:gridCol w="3505200"/>
                <a:gridCol w="4038600"/>
              </a:tblGrid>
              <a:tr h="766763">
                <a:tc>
                  <a:txBody>
                    <a:bodyPr/>
                    <a:lstStyle/>
                    <a:p>
                      <a:r>
                        <a:rPr sz="1725" b="1">
                          <a:solidFill>
                            <a:srgbClr val="F6F3EB"/>
                          </a:solidFill>
                          <a:latin typeface="Helvetica Neue"/>
                          <a:ea typeface="Helvetica Neue"/>
                          <a:cs typeface="Helvetica Neue"/>
                        </a:rPr>
                        <a:t>Input</a:t>
                      </a:r>
                    </a:p>
                  </a:txBody>
                  <a:tcPr marL="91440" marR="91440" marT="45720" marB="45720">
                    <a:solidFill>
                      <a:srgbClr val="25251F"/>
                    </a:solidFill>
                  </a:tcPr>
                </a:tc>
                <a:tc>
                  <a:txBody>
                    <a:bodyPr/>
                    <a:lstStyle/>
                    <a:p>
                      <a:r>
                        <a:rPr sz="1725" b="1">
                          <a:solidFill>
                            <a:srgbClr val="F6F3EB"/>
                          </a:solidFill>
                          <a:latin typeface="Helvetica Neue"/>
                          <a:ea typeface="Helvetica Neue"/>
                          <a:cs typeface="Helvetica Neue"/>
                        </a:rPr>
                        <a:t>Execution</a:t>
                      </a:r>
                    </a:p>
                  </a:txBody>
                  <a:tcPr marL="91440" marR="91440" marT="45720" marB="45720">
                    <a:solidFill>
                      <a:srgbClr val="25251F"/>
                    </a:solidFill>
                  </a:tcPr>
                </a:tc>
                <a:tc>
                  <a:txBody>
                    <a:bodyPr/>
                    <a:lstStyle/>
                    <a:p>
                      <a:r>
                        <a:rPr sz="1725" b="1">
                          <a:solidFill>
                            <a:srgbClr val="F6F3EB"/>
                          </a:solidFill>
                          <a:latin typeface="Helvetica Neue"/>
                          <a:ea typeface="Helvetica Neue"/>
                          <a:cs typeface="Helvetica Neue"/>
                        </a:rPr>
                        <a:t>Evidence</a:t>
                      </a:r>
                    </a:p>
                  </a:txBody>
                  <a:tcPr marL="91440" marR="91440" marT="45720" marB="45720">
                    <a:solidFill>
                      <a:srgbClr val="25251F"/>
                    </a:solidFill>
                  </a:tcPr>
                </a:tc>
              </a:tr>
              <a:tr h="766763">
                <a:tc>
                  <a:txBody>
                    <a:bodyPr/>
                    <a:lstStyle/>
                    <a:p>
                      <a:r>
                        <a:rPr sz="1800" b="0">
                          <a:solidFill>
                            <a:srgbClr val="25251F"/>
                          </a:solidFill>
                          <a:latin typeface="Helvetica Neue"/>
                          <a:ea typeface="Helvetica Neue"/>
                          <a:cs typeface="Helvetica Neue"/>
                        </a:rPr>
                        <a:t>Seed + migration SQL</a:t>
                      </a:r>
                    </a:p>
                  </a:txBody>
                  <a:tcPr marL="91440" marR="91440" marT="45720" marB="45720">
                    <a:solidFill>
                      <a:srgbClr val="F6F3EB"/>
                    </a:solidFill>
                  </a:tcPr>
                </a:tc>
                <a:tc>
                  <a:txBody>
                    <a:bodyPr/>
                    <a:lstStyle/>
                    <a:p>
                      <a:r>
                        <a:rPr sz="1800" b="0">
                          <a:solidFill>
                            <a:srgbClr val="25251F"/>
                          </a:solidFill>
                          <a:latin typeface="Helvetica Neue"/>
                          <a:ea typeface="Helvetica Neue"/>
                          <a:cs typeface="Helvetica Neue"/>
                        </a:rPr>
                        <a:t>Fresh PGlite databases</a:t>
                      </a:r>
                    </a:p>
                  </a:txBody>
                  <a:tcPr marL="91440" marR="91440" marT="45720" marB="45720">
                    <a:solidFill>
                      <a:srgbClr val="F6F3EB"/>
                    </a:solidFill>
                  </a:tcPr>
                </a:tc>
                <a:tc>
                  <a:txBody>
                    <a:bodyPr/>
                    <a:lstStyle/>
                    <a:p>
                      <a:r>
                        <a:rPr sz="1800" b="0">
                          <a:solidFill>
                            <a:srgbClr val="25251F"/>
                          </a:solidFill>
                          <a:latin typeface="Helvetica Neue"/>
                          <a:ea typeface="Helvetica Neue"/>
                          <a:cs typeface="Helvetica Neue"/>
                        </a:rPr>
                        <a:t>Exact statements and errors</a:t>
                      </a:r>
                    </a:p>
                  </a:txBody>
                  <a:tcPr marL="91440" marR="91440" marT="45720" marB="45720">
                    <a:solidFill>
                      <a:srgbClr val="F6F3EB"/>
                    </a:solidFill>
                  </a:tcPr>
                </a:tc>
              </a:tr>
              <a:tr h="766763">
                <a:tc>
                  <a:txBody>
                    <a:bodyPr/>
                    <a:lstStyle/>
                    <a:p>
                      <a:r>
                        <a:rPr sz="1800" b="0">
                          <a:solidFill>
                            <a:srgbClr val="25251F"/>
                          </a:solidFill>
                          <a:latin typeface="Helvetica Neue"/>
                          <a:ea typeface="Helvetica Neue"/>
                          <a:cs typeface="Helvetica Neue"/>
                        </a:rPr>
                        <a:t>Old + new query contracts</a:t>
                      </a:r>
                    </a:p>
                  </a:txBody>
                  <a:tcPr marL="91440" marR="91440" marT="45720" marB="45720">
                    <a:solidFill>
                      <a:srgbClr val="F6F3EB"/>
                    </a:solidFill>
                  </a:tcPr>
                </a:tc>
                <a:tc>
                  <a:txBody>
                    <a:bodyPr/>
                    <a:lstStyle/>
                    <a:p>
                      <a:r>
                        <a:rPr sz="1800" b="0">
                          <a:solidFill>
                            <a:srgbClr val="25251F"/>
                          </a:solidFill>
                          <a:latin typeface="Helvetica Neue"/>
                          <a:ea typeface="Helvetica Neue"/>
                          <a:cs typeface="Helvetica Neue"/>
                        </a:rPr>
                        <a:t>Compatibility checks</a:t>
                      </a:r>
                    </a:p>
                  </a:txBody>
                  <a:tcPr marL="91440" marR="91440" marT="45720" marB="45720">
                    <a:solidFill>
                      <a:srgbClr val="F6F3EB"/>
                    </a:solidFill>
                  </a:tcPr>
                </a:tc>
                <a:tc>
                  <a:txBody>
                    <a:bodyPr/>
                    <a:lstStyle/>
                    <a:p>
                      <a:r>
                        <a:rPr sz="1800" b="0">
                          <a:solidFill>
                            <a:srgbClr val="25251F"/>
                          </a:solidFill>
                          <a:latin typeface="Helvetica Neue"/>
                          <a:ea typeface="Helvetica Neue"/>
                          <a:cs typeface="Helvetica Neue"/>
                        </a:rPr>
                        <a:t>A result for each release state</a:t>
                      </a:r>
                    </a:p>
                  </a:txBody>
                  <a:tcPr marL="91440" marR="91440" marT="45720" marB="45720">
                    <a:solidFill>
                      <a:srgbClr val="F6F3EB"/>
                    </a:solidFill>
                  </a:tcPr>
                </a:tc>
              </a:tr>
              <a:tr h="766763">
                <a:tc>
                  <a:txBody>
                    <a:bodyPr/>
                    <a:lstStyle/>
                    <a:p>
                      <a:r>
                        <a:rPr sz="1800" b="0">
                          <a:solidFill>
                            <a:srgbClr val="25251F"/>
                          </a:solidFill>
                          <a:latin typeface="Helvetica Neue"/>
                          <a:ea typeface="Helvetica Neue"/>
                          <a:cs typeface="Helvetica Neue"/>
                        </a:rPr>
                        <a:t>New writes + invariant</a:t>
                      </a:r>
                    </a:p>
                  </a:txBody>
                  <a:tcPr marL="91440" marR="91440" marT="45720" marB="45720">
                    <a:solidFill>
                      <a:srgbClr val="F6F3EB"/>
                    </a:solidFill>
                  </a:tcPr>
                </a:tc>
                <a:tc>
                  <a:txBody>
                    <a:bodyPr/>
                    <a:lstStyle/>
                    <a:p>
                      <a:r>
                        <a:rPr sz="1800" b="0">
                          <a:solidFill>
                            <a:srgbClr val="25251F"/>
                          </a:solidFill>
                          <a:latin typeface="Helvetica Neue"/>
                          <a:ea typeface="Helvetica Neue"/>
                          <a:cs typeface="Helvetica Neue"/>
                        </a:rPr>
                        <a:t>Rollback, compare, reapply</a:t>
                      </a:r>
                    </a:p>
                  </a:txBody>
                  <a:tcPr marL="91440" marR="91440" marT="45720" marB="45720">
                    <a:solidFill>
                      <a:srgbClr val="F6F3EB"/>
                    </a:solidFill>
                  </a:tcPr>
                </a:tc>
                <a:tc>
                  <a:txBody>
                    <a:bodyPr/>
                    <a:lstStyle/>
                    <a:p>
                      <a:r>
                        <a:rPr sz="1800" b="0">
                          <a:solidFill>
                            <a:srgbClr val="25251F"/>
                          </a:solidFill>
                          <a:latin typeface="Helvetica Neue"/>
                          <a:ea typeface="Helvetica Neue"/>
                          <a:cs typeface="Helvetica Neue"/>
                        </a:rPr>
                        <a:t>Before-and-after rows</a:t>
                      </a:r>
                    </a:p>
                  </a:txBody>
                  <a:tcPr marL="91440" marR="91440" marT="45720" marB="45720">
                    <a:solidFill>
                      <a:srgbClr val="F6F3EB"/>
                    </a:solidFill>
                  </a:tcPr>
                </a:tc>
              </a:tr>
            </a:tbl>
          </a:graphicData>
        </a:graphic>
      </p:graphicFrame>
      <p:sp>
        <p:nvSpPr>
          <p:cNvPr id="4" name="text-13">
            <a:extLst xmlns:a="http://schemas.openxmlformats.org/drawingml/2006/main">
              <a:ext uri="{FF2B5EF4-FFF2-40B4-BE49-F238E27FC236}">
                <a16:creationId xmlns:a16="http://schemas.microsoft.com/office/drawing/2014/main" id="{3CE038B3-A996-4063-AC0B-EF8C8EFBAF66}"/>
              </a:ext>
            </a:extLst>
          </p:cNvPr>
          <p:cNvSpPr>
            <a:spLocks xmlns:a="http://schemas.openxmlformats.org/drawingml/2006/main" noGrp="1"/>
          </p:cNvSpPr>
          <p:nvPr/>
        </p:nvSpPr>
        <p:spPr>
          <a:xfrm xmlns:a="http://schemas.openxmlformats.org/drawingml/2006/main">
            <a:off x="733425" y="533400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DE4F2A"/>
                </a:solidFill>
                <a:latin typeface="Helvetica Neue"/>
                <a:ea typeface="Helvetica Neue"/>
                <a:cs typeface="Helvetica Neue"/>
              </a:defRPr>
            </a:pPr>
            <a:r>
              <a:rPr sz="2550" b="1">
                <a:solidFill>
                  <a:srgbClr val="DE4F2A"/>
                </a:solidFill>
                <a:latin typeface="Helvetica Neue"/>
                <a:ea typeface="Helvetica Neue"/>
                <a:cs typeface="Helvetica Neue"/>
              </a:rPr>
              <a:t>New writes happen before rollback.</a:t>
            </a:r>
          </a:p>
        </p:txBody>
      </p:sp>
    </p:spTree>
    <p:extLst>
      <p:ext uri="{BB962C8B-B14F-4D97-AF65-F5344CB8AC3E}">
        <p14:creationId xmlns:p14="http://schemas.microsoft.com/office/powerpoint/2010/main" val="907259645"/>
      </p:ext>
    </p:extLst>
  </p:cSld>
</p:sld>
</file>

<file path=ppt/slides/slide4.xml><?xml version="1.0" encoding="utf-8"?>
<p:sld xmlns:p="http://schemas.openxmlformats.org/presentationml/2006/main">
  <p:cSld>
    <p:bg>
      <p:bgPr>
        <a:solidFill xmlns:a="http://schemas.openxmlformats.org/drawingml/2006/main">
          <a:srgbClr val="F6F3EB"/>
        </a:solidFill>
      </p:bgPr>
    </p:bg>
    <p:spTree>
      <p:nvGrpSpPr>
        <p:cNvPr id="1" name=""/>
        <p:cNvGrpSpPr/>
        <p:nvPr/>
      </p:nvGrpSpPr>
      <p:grpSpPr>
        <a:xfrm xmlns:a="http://schemas.openxmlformats.org/drawingml/2006/main"/>
      </p:grpSpPr>
      <p:sp>
        <p:nvSpPr>
          <p:cNvPr id="7" name="text-14">
            <a:extLst xmlns:a="http://schemas.openxmlformats.org/drawingml/2006/main">
              <a:ext uri="{FF2B5EF4-FFF2-40B4-BE49-F238E27FC236}">
                <a16:creationId xmlns:a16="http://schemas.microsoft.com/office/drawing/2014/main" id="{6CF3D6AC-BA04-4CAC-BBA0-5009389E1F81}"/>
              </a:ext>
            </a:extLst>
          </p:cNvPr>
          <p:cNvSpPr>
            <a:spLocks xmlns:a="http://schemas.openxmlformats.org/drawingml/2006/main" noGrp="1"/>
          </p:cNvSpPr>
          <p:nvPr/>
        </p:nvSpPr>
        <p:spPr>
          <a:xfrm xmlns:a="http://schemas.openxmlformats.org/drawingml/2006/main">
            <a:off x="666750" y="59055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750" b="1">
                <a:solidFill>
                  <a:srgbClr val="25251F"/>
                </a:solidFill>
                <a:latin typeface="Helvetica Neue"/>
                <a:ea typeface="Helvetica Neue"/>
                <a:cs typeface="Helvetica Neue"/>
              </a:defRPr>
            </a:pPr>
            <a:r>
              <a:rPr sz="3750" b="1">
                <a:solidFill>
                  <a:srgbClr val="25251F"/>
                </a:solidFill>
                <a:latin typeface="Helvetica Neue"/>
                <a:ea typeface="Helvetica Neue"/>
                <a:cs typeface="Helvetica Neue"/>
              </a:rPr>
              <a:t>The rollback loses order 104</a:t>
            </a:r>
          </a:p>
        </p:txBody>
      </p:sp>
      <p:sp>
        <p:nvSpPr>
          <p:cNvPr id="2" name="text-15">
            <a:extLst xmlns:a="http://schemas.openxmlformats.org/drawingml/2006/main">
              <a:ext uri="{FF2B5EF4-FFF2-40B4-BE49-F238E27FC236}">
                <a16:creationId xmlns:a16="http://schemas.microsoft.com/office/drawing/2014/main" id="{0D7B9F59-BED1-4388-B2FE-E66CFA8C89DA}"/>
              </a:ext>
            </a:extLst>
          </p:cNvPr>
          <p:cNvSpPr>
            <a:spLocks xmlns:a="http://schemas.openxmlformats.org/drawingml/2006/main" noGrp="1"/>
          </p:cNvSpPr>
          <p:nvPr/>
        </p:nvSpPr>
        <p:spPr>
          <a:xfrm xmlns:a="http://schemas.openxmlformats.org/drawingml/2006/main">
            <a:off x="666750" y="6343650"/>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5665E"/>
                </a:solidFill>
                <a:latin typeface="Helvetica Neue"/>
                <a:ea typeface="Helvetica Neue"/>
                <a:cs typeface="Helvetica Neue"/>
              </a:defRPr>
            </a:pPr>
            <a:r>
              <a:rPr sz="1200" b="0">
                <a:solidFill>
                  <a:srgbClr val="65665E"/>
                </a:solidFill>
                <a:latin typeface="Helvetica Neue"/>
                <a:ea typeface="Helvetica Neue"/>
                <a:cs typeface="Helvetica Neue"/>
              </a:rPr>
              <a:t>UndoProof  /  04</a:t>
            </a:r>
          </a:p>
        </p:txBody>
      </p:sp>
      <p:sp>
        <p:nvSpPr>
          <p:cNvPr id="3" name="text-16">
            <a:extLst xmlns:a="http://schemas.openxmlformats.org/drawingml/2006/main">
              <a:ext uri="{FF2B5EF4-FFF2-40B4-BE49-F238E27FC236}">
                <a16:creationId xmlns:a16="http://schemas.microsoft.com/office/drawing/2014/main" id="{3CC61EEC-2B03-45DD-A34D-746758EA21C1}"/>
              </a:ext>
            </a:extLst>
          </p:cNvPr>
          <p:cNvSpPr>
            <a:spLocks xmlns:a="http://schemas.openxmlformats.org/drawingml/2006/main" noGrp="1"/>
          </p:cNvSpPr>
          <p:nvPr/>
        </p:nvSpPr>
        <p:spPr>
          <a:xfrm xmlns:a="http://schemas.openxmlformats.org/drawingml/2006/main">
            <a:off x="733425" y="2286000"/>
            <a:ext cx="4000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25251F"/>
                </a:solidFill>
                <a:latin typeface="Helvetica Neue"/>
                <a:ea typeface="Helvetica Neue"/>
                <a:cs typeface="Helvetica Neue"/>
              </a:defRPr>
            </a:pPr>
            <a:r>
              <a:rPr sz="2925" b="1">
                <a:solidFill>
                  <a:srgbClr val="25251F"/>
                </a:solidFill>
                <a:latin typeface="Helvetica Neue"/>
                <a:ea typeface="Helvetica Neue"/>
                <a:cs typeface="Helvetica Neue"/>
              </a:rPr>
              <a:t>4 rows before</a:t>
            </a:r>
          </a:p>
        </p:txBody>
      </p:sp>
      <p:sp>
        <p:nvSpPr>
          <p:cNvPr id="4" name="text-17">
            <a:extLst xmlns:a="http://schemas.openxmlformats.org/drawingml/2006/main">
              <a:ext uri="{FF2B5EF4-FFF2-40B4-BE49-F238E27FC236}">
                <a16:creationId xmlns:a16="http://schemas.microsoft.com/office/drawing/2014/main" id="{ADE070C6-BAD3-422B-8361-399D9B98C7DA}"/>
              </a:ext>
            </a:extLst>
          </p:cNvPr>
          <p:cNvSpPr>
            <a:spLocks xmlns:a="http://schemas.openxmlformats.org/drawingml/2006/main" noGrp="1"/>
          </p:cNvSpPr>
          <p:nvPr/>
        </p:nvSpPr>
        <p:spPr>
          <a:xfrm xmlns:a="http://schemas.openxmlformats.org/drawingml/2006/main">
            <a:off x="733425" y="3009900"/>
            <a:ext cx="4000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DE4F2A"/>
                </a:solidFill>
                <a:latin typeface="Helvetica Neue"/>
                <a:ea typeface="Helvetica Neue"/>
                <a:cs typeface="Helvetica Neue"/>
              </a:defRPr>
            </a:pPr>
            <a:r>
              <a:rPr sz="2925" b="1">
                <a:solidFill>
                  <a:srgbClr val="DE4F2A"/>
                </a:solidFill>
                <a:latin typeface="Helvetica Neue"/>
                <a:ea typeface="Helvetica Neue"/>
                <a:cs typeface="Helvetica Neue"/>
              </a:rPr>
              <a:t>3 rows after</a:t>
            </a:r>
          </a:p>
        </p:txBody>
      </p:sp>
      <p:sp>
        <p:nvSpPr>
          <p:cNvPr id="5" name="text-18">
            <a:extLst xmlns:a="http://schemas.openxmlformats.org/drawingml/2006/main">
              <a:ext uri="{FF2B5EF4-FFF2-40B4-BE49-F238E27FC236}">
                <a16:creationId xmlns:a16="http://schemas.microsoft.com/office/drawing/2014/main" id="{C9155967-F077-4A94-8EC1-71552418FF87}"/>
              </a:ext>
            </a:extLst>
          </p:cNvPr>
          <p:cNvSpPr>
            <a:spLocks xmlns:a="http://schemas.openxmlformats.org/drawingml/2006/main" noGrp="1"/>
          </p:cNvSpPr>
          <p:nvPr/>
        </p:nvSpPr>
        <p:spPr>
          <a:xfrm xmlns:a="http://schemas.openxmlformats.org/drawingml/2006/main">
            <a:off x="752475" y="4162425"/>
            <a:ext cx="38100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65665E"/>
                </a:solidFill>
                <a:latin typeface="Helvetica Neue"/>
                <a:ea typeface="Helvetica Neue"/>
                <a:cs typeface="Helvetica Neue"/>
              </a:defRPr>
            </a:pPr>
            <a:r>
              <a:rPr sz="2175" b="0">
                <a:solidFill>
                  <a:srgbClr val="65665E"/>
                </a:solidFill>
                <a:latin typeface="Helvetica Neue"/>
                <a:ea typeface="Helvetica Neue"/>
                <a:cs typeface="Helvetica Neue"/>
              </a:rPr>
              <a:t>The rollback SQL succeeds.</a:t>
            </a:r>
          </a:p>
          <a:p xmlns:a="http://schemas.openxmlformats.org/drawingml/2006/main">
            <a:pPr>
              <a:defRPr sz="2175" b="0">
                <a:solidFill>
                  <a:srgbClr val="65665E"/>
                </a:solidFill>
                <a:latin typeface="Helvetica Neue"/>
                <a:ea typeface="Helvetica Neue"/>
                <a:cs typeface="Helvetica Neue"/>
              </a:defRPr>
            </a:pPr>
            <a:r>
              <a:rPr sz="2175" b="0">
                <a:solidFill>
                  <a:srgbClr val="65665E"/>
                </a:solidFill>
                <a:latin typeface="Helvetica Neue"/>
                <a:ea typeface="Helvetica Neue"/>
                <a:cs typeface="Helvetica Neue"/>
              </a:rPr>
              <a:t>The invariant fails.</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6a86596e0d194ca6"/>
          <a:stretch xmlns:a="http://schemas.openxmlformats.org/drawingml/2006/main"/>
        </p:blipFill>
        <p:spPr>
          <a:xfrm xmlns:a="http://schemas.openxmlformats.org/drawingml/2006/main">
            <a:off x="5150966" y="1666875"/>
            <a:ext cx="6023919" cy="4457700"/>
          </a:xfrm>
          <a:prstGeom xmlns:a="http://schemas.openxmlformats.org/drawingml/2006/main" prst="rect">
            <a:avLst/>
          </a:prstGeom>
        </p:spPr>
      </p:pic>
    </p:spTree>
    <p:extLst>
      <p:ext uri="{BB962C8B-B14F-4D97-AF65-F5344CB8AC3E}">
        <p14:creationId xmlns:p14="http://schemas.microsoft.com/office/powerpoint/2010/main" val="1897704430"/>
      </p:ext>
    </p:extLst>
  </p:cSld>
</p:sld>
</file>

<file path=ppt/slides/slide5.xml><?xml version="1.0" encoding="utf-8"?>
<p:sld xmlns:p="http://schemas.openxmlformats.org/presentationml/2006/main">
  <p:cSld>
    <p:bg>
      <p:bgPr>
        <a:solidFill xmlns:a="http://schemas.openxmlformats.org/drawingml/2006/main">
          <a:srgbClr val="F6F3EB"/>
        </a:solidFill>
      </p:bgPr>
    </p:bg>
    <p:spTree>
      <p:nvGrpSpPr>
        <p:cNvPr id="1" name=""/>
        <p:cNvGrpSpPr/>
        <p:nvPr/>
      </p:nvGrpSpPr>
      <p:grpSpPr>
        <a:xfrm xmlns:a="http://schemas.openxmlformats.org/drawingml/2006/main"/>
      </p:grpSpPr>
      <p:sp>
        <p:nvSpPr>
          <p:cNvPr id="6" name="text-19">
            <a:extLst xmlns:a="http://schemas.openxmlformats.org/drawingml/2006/main">
              <a:ext uri="{FF2B5EF4-FFF2-40B4-BE49-F238E27FC236}">
                <a16:creationId xmlns:a16="http://schemas.microsoft.com/office/drawing/2014/main" id="{4654B7E5-A2B7-4F50-9185-858611A82CA6}"/>
              </a:ext>
            </a:extLst>
          </p:cNvPr>
          <p:cNvSpPr>
            <a:spLocks xmlns:a="http://schemas.openxmlformats.org/drawingml/2006/main" noGrp="1"/>
          </p:cNvSpPr>
          <p:nvPr/>
        </p:nvSpPr>
        <p:spPr>
          <a:xfrm xmlns:a="http://schemas.openxmlformats.org/drawingml/2006/main">
            <a:off x="666750" y="59055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750" b="1">
                <a:solidFill>
                  <a:srgbClr val="25251F"/>
                </a:solidFill>
                <a:latin typeface="Helvetica Neue"/>
                <a:ea typeface="Helvetica Neue"/>
                <a:cs typeface="Helvetica Neue"/>
              </a:defRPr>
            </a:pPr>
            <a:r>
              <a:rPr sz="3750" b="1">
                <a:solidFill>
                  <a:srgbClr val="25251F"/>
                </a:solidFill>
                <a:latin typeface="Helvetica Neue"/>
                <a:ea typeface="Helvetica Neue"/>
                <a:cs typeface="Helvetica Neue"/>
              </a:rPr>
              <a:t>One reproducible rehearsal per plan</a:t>
            </a:r>
          </a:p>
        </p:txBody>
      </p:sp>
      <p:sp>
        <p:nvSpPr>
          <p:cNvPr id="2" name="text-20">
            <a:extLst xmlns:a="http://schemas.openxmlformats.org/drawingml/2006/main">
              <a:ext uri="{FF2B5EF4-FFF2-40B4-BE49-F238E27FC236}">
                <a16:creationId xmlns:a16="http://schemas.microsoft.com/office/drawing/2014/main" id="{0648393B-14F5-4BA0-BE54-D251ED8A59BA}"/>
              </a:ext>
            </a:extLst>
          </p:cNvPr>
          <p:cNvSpPr>
            <a:spLocks xmlns:a="http://schemas.openxmlformats.org/drawingml/2006/main" noGrp="1"/>
          </p:cNvSpPr>
          <p:nvPr/>
        </p:nvSpPr>
        <p:spPr>
          <a:xfrm xmlns:a="http://schemas.openxmlformats.org/drawingml/2006/main">
            <a:off x="666750" y="6343650"/>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5665E"/>
                </a:solidFill>
                <a:latin typeface="Helvetica Neue"/>
                <a:ea typeface="Helvetica Neue"/>
                <a:cs typeface="Helvetica Neue"/>
              </a:defRPr>
            </a:pPr>
            <a:r>
              <a:rPr sz="1200" b="0">
                <a:solidFill>
                  <a:srgbClr val="65665E"/>
                </a:solidFill>
                <a:latin typeface="Helvetica Neue"/>
                <a:ea typeface="Helvetica Neue"/>
                <a:cs typeface="Helvetica Neue"/>
              </a:rPr>
              <a:t>UndoProof  /  05</a:t>
            </a:r>
          </a:p>
        </p:txBody>
      </p:sp>
      <p:graphicFrame>
        <p:nvGraphicFramePr>
          <p:cNvPr id="8" name=""/>
          <p:cNvGraphicFramePr/>
          <p:nvPr/>
        </p:nvGraphicFramePr>
        <p:xfrm>
          <a:off xmlns:a="http://schemas.openxmlformats.org/drawingml/2006/main" x="704850" y="2047875"/>
          <a:ext xmlns:a="http://schemas.openxmlformats.org/drawingml/2006/main" cx="10782300" cy="2381250"/>
        </p:xfrm>
        <a:graphic xmlns:a="http://schemas.openxmlformats.org/drawingml/2006/main">
          <a:graphicData uri="http://schemas.openxmlformats.org/drawingml/2006/table">
            <a:tbl>
              <a:tblPr/>
              <a:tblGrid>
                <a:gridCol w="3000375"/>
                <a:gridCol w="2333625"/>
                <a:gridCol w="3000375"/>
                <a:gridCol w="2447925"/>
              </a:tblGrid>
              <a:tr h="793750">
                <a:tc>
                  <a:txBody>
                    <a:bodyPr/>
                    <a:lstStyle/>
                    <a:p>
                      <a:r>
                        <a:rPr sz="1725" b="1">
                          <a:solidFill>
                            <a:srgbClr val="F6F3EB"/>
                          </a:solidFill>
                          <a:latin typeface="Helvetica Neue"/>
                          <a:ea typeface="Helvetica Neue"/>
                          <a:cs typeface="Helvetica Neue"/>
                        </a:rPr>
                        <a:t>Plan</a:t>
                      </a:r>
                    </a:p>
                  </a:txBody>
                  <a:tcPr marL="91440" marR="91440" marT="45720" marB="45720">
                    <a:solidFill>
                      <a:srgbClr val="25251F"/>
                    </a:solidFill>
                  </a:tcPr>
                </a:tc>
                <a:tc>
                  <a:txBody>
                    <a:bodyPr/>
                    <a:lstStyle/>
                    <a:p>
                      <a:r>
                        <a:rPr sz="1725" b="1">
                          <a:solidFill>
                            <a:srgbClr val="F6F3EB"/>
                          </a:solidFill>
                          <a:latin typeface="Helvetica Neue"/>
                          <a:ea typeface="Helvetica Neue"/>
                          <a:cs typeface="Helvetica Neue"/>
                        </a:rPr>
                        <a:t>Passed checks</a:t>
                      </a:r>
                    </a:p>
                  </a:txBody>
                  <a:tcPr marL="91440" marR="91440" marT="45720" marB="45720">
                    <a:solidFill>
                      <a:srgbClr val="25251F"/>
                    </a:solidFill>
                  </a:tcPr>
                </a:tc>
                <a:tc>
                  <a:txBody>
                    <a:bodyPr/>
                    <a:lstStyle/>
                    <a:p>
                      <a:r>
                        <a:rPr sz="1725" b="1">
                          <a:solidFill>
                            <a:srgbClr val="F6F3EB"/>
                          </a:solidFill>
                          <a:latin typeface="Helvetica Neue"/>
                          <a:ea typeface="Helvetica Neue"/>
                          <a:cs typeface="Helvetica Neue"/>
                        </a:rPr>
                        <a:t>Rows after rollback</a:t>
                      </a:r>
                    </a:p>
                  </a:txBody>
                  <a:tcPr marL="91440" marR="91440" marT="45720" marB="45720">
                    <a:solidFill>
                      <a:srgbClr val="25251F"/>
                    </a:solidFill>
                  </a:tcPr>
                </a:tc>
                <a:tc>
                  <a:txBody>
                    <a:bodyPr/>
                    <a:lstStyle/>
                    <a:p>
                      <a:r>
                        <a:rPr sz="1725" b="1">
                          <a:solidFill>
                            <a:srgbClr val="F6F3EB"/>
                          </a:solidFill>
                          <a:latin typeface="Helvetica Neue"/>
                          <a:ea typeface="Helvetica Neue"/>
                          <a:cs typeface="Helvetica Neue"/>
                        </a:rPr>
                        <a:t>Engine duration</a:t>
                      </a:r>
                    </a:p>
                  </a:txBody>
                  <a:tcPr marL="91440" marR="91440" marT="45720" marB="45720">
                    <a:solidFill>
                      <a:srgbClr val="25251F"/>
                    </a:solidFill>
                  </a:tcPr>
                </a:tc>
              </a:tr>
              <a:tr h="793750">
                <a:tc>
                  <a:txBody>
                    <a:bodyPr/>
                    <a:lstStyle/>
                    <a:p>
                      <a:r>
                        <a:rPr sz="1800" b="0">
                          <a:solidFill>
                            <a:srgbClr val="25251F"/>
                          </a:solidFill>
                          <a:latin typeface="Helvetica Neue"/>
                          <a:ea typeface="Helvetica Neue"/>
                          <a:cs typeface="Helvetica Neue"/>
                        </a:rPr>
                        <a:t>Unsafe snapshot</a:t>
                      </a:r>
                    </a:p>
                  </a:txBody>
                  <a:tcPr marL="91440" marR="91440" marT="45720" marB="45720">
                    <a:solidFill>
                      <a:srgbClr val="F6F3EB"/>
                    </a:solidFill>
                  </a:tcPr>
                </a:tc>
                <a:tc>
                  <a:txBody>
                    <a:bodyPr/>
                    <a:lstStyle/>
                    <a:p>
                      <a:r>
                        <a:rPr sz="1800" b="0">
                          <a:solidFill>
                            <a:srgbClr val="25251F"/>
                          </a:solidFill>
                          <a:latin typeface="Helvetica Neue"/>
                          <a:ea typeface="Helvetica Neue"/>
                          <a:cs typeface="Helvetica Neue"/>
                        </a:rPr>
                        <a:t>9 of 10</a:t>
                      </a:r>
                    </a:p>
                  </a:txBody>
                  <a:tcPr marL="91440" marR="91440" marT="45720" marB="45720">
                    <a:solidFill>
                      <a:srgbClr val="F6F3EB"/>
                    </a:solidFill>
                  </a:tcPr>
                </a:tc>
                <a:tc>
                  <a:txBody>
                    <a:bodyPr/>
                    <a:lstStyle/>
                    <a:p>
                      <a:r>
                        <a:rPr sz="1800" b="0">
                          <a:solidFill>
                            <a:srgbClr val="25251F"/>
                          </a:solidFill>
                          <a:latin typeface="Helvetica Neue"/>
                          <a:ea typeface="Helvetica Neue"/>
                          <a:cs typeface="Helvetica Neue"/>
                        </a:rPr>
                        <a:t>3 of 4</a:t>
                      </a:r>
                    </a:p>
                  </a:txBody>
                  <a:tcPr marL="91440" marR="91440" marT="45720" marB="45720">
                    <a:solidFill>
                      <a:srgbClr val="F6F3EB"/>
                    </a:solidFill>
                  </a:tcPr>
                </a:tc>
                <a:tc>
                  <a:txBody>
                    <a:bodyPr/>
                    <a:lstStyle/>
                    <a:p>
                      <a:r>
                        <a:rPr sz="1800" b="0">
                          <a:solidFill>
                            <a:srgbClr val="25251F"/>
                          </a:solidFill>
                          <a:latin typeface="Helvetica Neue"/>
                          <a:ea typeface="Helvetica Neue"/>
                          <a:cs typeface="Helvetica Neue"/>
                        </a:rPr>
                        <a:t>2,810.96 ms</a:t>
                      </a:r>
                    </a:p>
                  </a:txBody>
                  <a:tcPr marL="91440" marR="91440" marT="45720" marB="45720">
                    <a:solidFill>
                      <a:srgbClr val="F6F3EB"/>
                    </a:solidFill>
                  </a:tcPr>
                </a:tc>
              </a:tr>
              <a:tr h="793750">
                <a:tc>
                  <a:txBody>
                    <a:bodyPr/>
                    <a:lstStyle/>
                    <a:p>
                      <a:r>
                        <a:rPr sz="1800" b="0">
                          <a:solidFill>
                            <a:srgbClr val="25251F"/>
                          </a:solidFill>
                          <a:latin typeface="Helvetica Neue"/>
                          <a:ea typeface="Helvetica Neue"/>
                          <a:cs typeface="Helvetica Neue"/>
                        </a:rPr>
                        <a:t>Supplied repair</a:t>
                      </a:r>
                    </a:p>
                  </a:txBody>
                  <a:tcPr marL="91440" marR="91440" marT="45720" marB="45720">
                    <a:solidFill>
                      <a:srgbClr val="F6F3EB"/>
                    </a:solidFill>
                  </a:tcPr>
                </a:tc>
                <a:tc>
                  <a:txBody>
                    <a:bodyPr/>
                    <a:lstStyle/>
                    <a:p>
                      <a:r>
                        <a:rPr sz="1800" b="0">
                          <a:solidFill>
                            <a:srgbClr val="25251F"/>
                          </a:solidFill>
                          <a:latin typeface="Helvetica Neue"/>
                          <a:ea typeface="Helvetica Neue"/>
                          <a:cs typeface="Helvetica Neue"/>
                        </a:rPr>
                        <a:t>10 of 10</a:t>
                      </a:r>
                    </a:p>
                  </a:txBody>
                  <a:tcPr marL="91440" marR="91440" marT="45720" marB="45720">
                    <a:solidFill>
                      <a:srgbClr val="F6F3EB"/>
                    </a:solidFill>
                  </a:tcPr>
                </a:tc>
                <a:tc>
                  <a:txBody>
                    <a:bodyPr/>
                    <a:lstStyle/>
                    <a:p>
                      <a:r>
                        <a:rPr sz="1800" b="0">
                          <a:solidFill>
                            <a:srgbClr val="25251F"/>
                          </a:solidFill>
                          <a:latin typeface="Helvetica Neue"/>
                          <a:ea typeface="Helvetica Neue"/>
                          <a:cs typeface="Helvetica Neue"/>
                        </a:rPr>
                        <a:t>4 of 4</a:t>
                      </a:r>
                    </a:p>
                  </a:txBody>
                  <a:tcPr marL="91440" marR="91440" marT="45720" marB="45720">
                    <a:solidFill>
                      <a:srgbClr val="F6F3EB"/>
                    </a:solidFill>
                  </a:tcPr>
                </a:tc>
                <a:tc>
                  <a:txBody>
                    <a:bodyPr/>
                    <a:lstStyle/>
                    <a:p>
                      <a:r>
                        <a:rPr sz="1800" b="0">
                          <a:solidFill>
                            <a:srgbClr val="25251F"/>
                          </a:solidFill>
                          <a:latin typeface="Helvetica Neue"/>
                          <a:ea typeface="Helvetica Neue"/>
                          <a:cs typeface="Helvetica Neue"/>
                        </a:rPr>
                        <a:t>2,808.79 ms</a:t>
                      </a:r>
                    </a:p>
                  </a:txBody>
                  <a:tcPr marL="91440" marR="91440" marT="45720" marB="45720">
                    <a:solidFill>
                      <a:srgbClr val="F6F3EB"/>
                    </a:solidFill>
                  </a:tcPr>
                </a:tc>
              </a:tr>
            </a:tbl>
          </a:graphicData>
        </a:graphic>
      </p:graphicFrame>
      <p:sp>
        <p:nvSpPr>
          <p:cNvPr id="4" name="text-21">
            <a:extLst xmlns:a="http://schemas.openxmlformats.org/drawingml/2006/main">
              <a:ext uri="{FF2B5EF4-FFF2-40B4-BE49-F238E27FC236}">
                <a16:creationId xmlns:a16="http://schemas.microsoft.com/office/drawing/2014/main" id="{361C11BB-A0A5-4052-9D02-70B243397AAE}"/>
              </a:ext>
            </a:extLst>
          </p:cNvPr>
          <p:cNvSpPr>
            <a:spLocks xmlns:a="http://schemas.openxmlformats.org/drawingml/2006/main" noGrp="1"/>
          </p:cNvSpPr>
          <p:nvPr/>
        </p:nvSpPr>
        <p:spPr>
          <a:xfrm xmlns:a="http://schemas.openxmlformats.org/drawingml/2006/main">
            <a:off x="742950" y="4810125"/>
            <a:ext cx="10572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DE4F2A"/>
                </a:solidFill>
                <a:latin typeface="Helvetica Neue"/>
                <a:ea typeface="Helvetica Neue"/>
                <a:cs typeface="Helvetica Neue"/>
              </a:defRPr>
            </a:pPr>
            <a:r>
              <a:rPr sz="2550" b="1">
                <a:solidFill>
                  <a:srgbClr val="DE4F2A"/>
                </a:solidFill>
                <a:latin typeface="Helvetica Neue"/>
                <a:ea typeface="Helvetica Neue"/>
                <a:cs typeface="Helvetica Neue"/>
              </a:rPr>
              <a:t>Same invariant. The repair preserves the new order.</a:t>
            </a:r>
          </a:p>
        </p:txBody>
      </p:sp>
      <p:sp>
        <p:nvSpPr>
          <p:cNvPr id="5" name="text-22">
            <a:extLst xmlns:a="http://schemas.openxmlformats.org/drawingml/2006/main">
              <a:ext uri="{FF2B5EF4-FFF2-40B4-BE49-F238E27FC236}">
                <a16:creationId xmlns:a16="http://schemas.microsoft.com/office/drawing/2014/main" id="{659DFF6C-A136-4105-BF27-EC6A4973CF44}"/>
              </a:ext>
            </a:extLst>
          </p:cNvPr>
          <p:cNvSpPr>
            <a:spLocks xmlns:a="http://schemas.openxmlformats.org/drawingml/2006/main" noGrp="1"/>
          </p:cNvSpPr>
          <p:nvPr/>
        </p:nvSpPr>
        <p:spPr>
          <a:xfrm xmlns:a="http://schemas.openxmlformats.org/drawingml/2006/main">
            <a:off x="742950" y="5657850"/>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65665E"/>
                </a:solidFill>
                <a:latin typeface="Helvetica Neue"/>
                <a:ea typeface="Helvetica Neue"/>
                <a:cs typeface="Helvetica Neue"/>
              </a:defRPr>
            </a:pPr>
            <a:r>
              <a:rPr sz="1575" b="0">
                <a:solidFill>
                  <a:srgbClr val="65665E"/>
                </a:solidFill>
                <a:latin typeface="Helvetica Neue"/>
                <a:ea typeface="Helvetica Neue"/>
                <a:cs typeface="Helvetica Neue"/>
              </a:rPr>
              <a:t>Single synthetic CLI run per plan. Engine duration excludes setup and review.</a:t>
            </a:r>
          </a:p>
          <a:p xmlns:a="http://schemas.openxmlformats.org/drawingml/2006/main">
            <a:pPr>
              <a:defRPr sz="1575" b="0">
                <a:solidFill>
                  <a:srgbClr val="65665E"/>
                </a:solidFill>
                <a:latin typeface="Helvetica Neue"/>
                <a:ea typeface="Helvetica Neue"/>
                <a:cs typeface="Helvetica Neue"/>
              </a:defRPr>
            </a:pPr>
            <a:r>
              <a:rPr sz="1575" b="0">
                <a:solidFill>
                  <a:srgbClr val="65665E"/>
                </a:solidFill>
                <a:latin typeface="Helvetica Neue"/>
                <a:ea typeface="Helvetica Neue"/>
                <a:cs typeface="Helvetica Neue"/>
              </a:rPr>
              <a:t>This measures execution, not a percentage productivity improvement.</a:t>
            </a:r>
          </a:p>
        </p:txBody>
      </p:sp>
    </p:spTree>
    <p:extLst>
      <p:ext uri="{BB962C8B-B14F-4D97-AF65-F5344CB8AC3E}">
        <p14:creationId xmlns:p14="http://schemas.microsoft.com/office/powerpoint/2010/main" val="1019835127"/>
      </p:ext>
    </p:extLst>
  </p:cSld>
</p:sld>
</file>

<file path=ppt/slides/slide6.xml><?xml version="1.0" encoding="utf-8"?>
<p:sld xmlns:p="http://schemas.openxmlformats.org/presentationml/2006/main">
  <p:cSld>
    <p:bg>
      <p:bgPr>
        <a:solidFill xmlns:a="http://schemas.openxmlformats.org/drawingml/2006/main">
          <a:srgbClr val="F6F3EB"/>
        </a:solidFill>
      </p:bgPr>
    </p:bg>
    <p:spTree>
      <p:nvGrpSpPr>
        <p:cNvPr id="1" name=""/>
        <p:cNvGrpSpPr/>
        <p:nvPr/>
      </p:nvGrpSpPr>
      <p:grpSpPr>
        <a:xfrm xmlns:a="http://schemas.openxmlformats.org/drawingml/2006/main"/>
      </p:grpSpPr>
      <p:sp>
        <p:nvSpPr>
          <p:cNvPr id="8" name="text-23">
            <a:extLst xmlns:a="http://schemas.openxmlformats.org/drawingml/2006/main">
              <a:ext uri="{FF2B5EF4-FFF2-40B4-BE49-F238E27FC236}">
                <a16:creationId xmlns:a16="http://schemas.microsoft.com/office/drawing/2014/main" id="{AD6C5145-5F05-496B-8418-375B8F14DDF5}"/>
              </a:ext>
            </a:extLst>
          </p:cNvPr>
          <p:cNvSpPr>
            <a:spLocks xmlns:a="http://schemas.openxmlformats.org/drawingml/2006/main" noGrp="1"/>
          </p:cNvSpPr>
          <p:nvPr/>
        </p:nvSpPr>
        <p:spPr>
          <a:xfrm xmlns:a="http://schemas.openxmlformats.org/drawingml/2006/main">
            <a:off x="666750" y="59055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750" b="1">
                <a:solidFill>
                  <a:srgbClr val="25251F"/>
                </a:solidFill>
                <a:latin typeface="Helvetica Neue"/>
                <a:ea typeface="Helvetica Neue"/>
                <a:cs typeface="Helvetica Neue"/>
              </a:defRPr>
            </a:pPr>
            <a:r>
              <a:rPr sz="3750" b="1">
                <a:solidFill>
                  <a:srgbClr val="25251F"/>
                </a:solidFill>
                <a:latin typeface="Helvetica Neue"/>
                <a:ea typeface="Helvetica Neue"/>
                <a:cs typeface="Helvetica Neue"/>
              </a:rPr>
              <a:t>IBM Bob repair handoff</a:t>
            </a:r>
          </a:p>
        </p:txBody>
      </p:sp>
      <p:sp>
        <p:nvSpPr>
          <p:cNvPr id="2" name="text-24">
            <a:extLst xmlns:a="http://schemas.openxmlformats.org/drawingml/2006/main">
              <a:ext uri="{FF2B5EF4-FFF2-40B4-BE49-F238E27FC236}">
                <a16:creationId xmlns:a16="http://schemas.microsoft.com/office/drawing/2014/main" id="{ACDE8443-1133-4700-9B0C-403AE91B5E45}"/>
              </a:ext>
            </a:extLst>
          </p:cNvPr>
          <p:cNvSpPr>
            <a:spLocks xmlns:a="http://schemas.openxmlformats.org/drawingml/2006/main" noGrp="1"/>
          </p:cNvSpPr>
          <p:nvPr/>
        </p:nvSpPr>
        <p:spPr>
          <a:xfrm xmlns:a="http://schemas.openxmlformats.org/drawingml/2006/main">
            <a:off x="666750" y="6343650"/>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5665E"/>
                </a:solidFill>
                <a:latin typeface="Helvetica Neue"/>
                <a:ea typeface="Helvetica Neue"/>
                <a:cs typeface="Helvetica Neue"/>
              </a:defRPr>
            </a:pPr>
            <a:r>
              <a:rPr sz="1200" b="0">
                <a:solidFill>
                  <a:srgbClr val="65665E"/>
                </a:solidFill>
                <a:latin typeface="Helvetica Neue"/>
                <a:ea typeface="Helvetica Neue"/>
                <a:cs typeface="Helvetica Neue"/>
              </a:rPr>
              <a:t>UndoProof  /  06</a:t>
            </a:r>
          </a:p>
        </p:txBody>
      </p:sp>
      <p:sp>
        <p:nvSpPr>
          <p:cNvPr id="3" name="text-25">
            <a:extLst xmlns:a="http://schemas.openxmlformats.org/drawingml/2006/main">
              <a:ext uri="{FF2B5EF4-FFF2-40B4-BE49-F238E27FC236}">
                <a16:creationId xmlns:a16="http://schemas.microsoft.com/office/drawing/2014/main" id="{E02D68FD-13FA-49E7-9EFF-DD85BE6B1E14}"/>
              </a:ext>
            </a:extLst>
          </p:cNvPr>
          <p:cNvSpPr>
            <a:spLocks xmlns:a="http://schemas.openxmlformats.org/drawingml/2006/main" noGrp="1"/>
          </p:cNvSpPr>
          <p:nvPr/>
        </p:nvSpPr>
        <p:spPr>
          <a:xfrm xmlns:a="http://schemas.openxmlformats.org/drawingml/2006/main">
            <a:off x="733425" y="2057400"/>
            <a:ext cx="105727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DE4F2A"/>
                </a:solidFill>
                <a:latin typeface="Helvetica Neue"/>
                <a:ea typeface="Helvetica Neue"/>
                <a:cs typeface="Helvetica Neue"/>
              </a:defRPr>
            </a:pPr>
            <a:r>
              <a:rPr sz="3000" b="1">
                <a:solidFill>
                  <a:srgbClr val="DE4F2A"/>
                </a:solidFill>
                <a:latin typeface="Helvetica Neue"/>
                <a:ea typeface="Helvetica Neue"/>
                <a:cs typeface="Helvetica Neue"/>
              </a:rPr>
              <a:t>1  Export the failure</a:t>
            </a:r>
          </a:p>
        </p:txBody>
      </p:sp>
      <p:sp>
        <p:nvSpPr>
          <p:cNvPr id="4" name="text-26">
            <a:extLst xmlns:a="http://schemas.openxmlformats.org/drawingml/2006/main">
              <a:ext uri="{FF2B5EF4-FFF2-40B4-BE49-F238E27FC236}">
                <a16:creationId xmlns:a16="http://schemas.microsoft.com/office/drawing/2014/main" id="{1E5F3B9E-FD27-41F6-84A6-0FEB33B5F979}"/>
              </a:ext>
            </a:extLst>
          </p:cNvPr>
          <p:cNvSpPr>
            <a:spLocks xmlns:a="http://schemas.openxmlformats.org/drawingml/2006/main" noGrp="1"/>
          </p:cNvSpPr>
          <p:nvPr/>
        </p:nvSpPr>
        <p:spPr>
          <a:xfrm xmlns:a="http://schemas.openxmlformats.org/drawingml/2006/main">
            <a:off x="1162050" y="2771775"/>
            <a:ext cx="9906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25251F"/>
                </a:solidFill>
                <a:latin typeface="Helvetica Neue"/>
                <a:ea typeface="Helvetica Neue"/>
                <a:cs typeface="Helvetica Neue"/>
              </a:defRPr>
            </a:pPr>
            <a:r>
              <a:rPr sz="2400" b="0">
                <a:solidFill>
                  <a:srgbClr val="25251F"/>
                </a:solidFill>
                <a:latin typeface="Helvetica Neue"/>
                <a:ea typeface="Helvetica Neue"/>
                <a:cs typeface="Helvetica Neue"/>
              </a:rPr>
              <a:t>Exact contract, executed SQL and data differences</a:t>
            </a:r>
          </a:p>
        </p:txBody>
      </p:sp>
      <p:sp>
        <p:nvSpPr>
          <p:cNvPr id="5" name="text-27">
            <a:extLst xmlns:a="http://schemas.openxmlformats.org/drawingml/2006/main">
              <a:ext uri="{FF2B5EF4-FFF2-40B4-BE49-F238E27FC236}">
                <a16:creationId xmlns:a16="http://schemas.microsoft.com/office/drawing/2014/main" id="{65C18FEB-B7AF-4998-BE99-9B99E619A499}"/>
              </a:ext>
            </a:extLst>
          </p:cNvPr>
          <p:cNvSpPr>
            <a:spLocks xmlns:a="http://schemas.openxmlformats.org/drawingml/2006/main" noGrp="1"/>
          </p:cNvSpPr>
          <p:nvPr/>
        </p:nvSpPr>
        <p:spPr>
          <a:xfrm xmlns:a="http://schemas.openxmlformats.org/drawingml/2006/main">
            <a:off x="733425" y="3990975"/>
            <a:ext cx="1057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DE4F2A"/>
                </a:solidFill>
                <a:latin typeface="Helvetica Neue"/>
                <a:ea typeface="Helvetica Neue"/>
                <a:cs typeface="Helvetica Neue"/>
              </a:defRPr>
            </a:pPr>
            <a:r>
              <a:rPr sz="3000" b="1">
                <a:solidFill>
                  <a:srgbClr val="DE4F2A"/>
                </a:solidFill>
                <a:latin typeface="Helvetica Neue"/>
                <a:ea typeface="Helvetica Neue"/>
                <a:cs typeface="Helvetica Neue"/>
              </a:rPr>
              <a:t>2  Review a repair in Bob IDE</a:t>
            </a:r>
          </a:p>
        </p:txBody>
      </p:sp>
      <p:sp>
        <p:nvSpPr>
          <p:cNvPr id="6" name="text-28">
            <a:extLst xmlns:a="http://schemas.openxmlformats.org/drawingml/2006/main">
              <a:ext uri="{FF2B5EF4-FFF2-40B4-BE49-F238E27FC236}">
                <a16:creationId xmlns:a16="http://schemas.microsoft.com/office/drawing/2014/main" id="{D0D4B4C7-391B-4186-8381-622920EF5027}"/>
              </a:ext>
            </a:extLst>
          </p:cNvPr>
          <p:cNvSpPr>
            <a:spLocks xmlns:a="http://schemas.openxmlformats.org/drawingml/2006/main" noGrp="1"/>
          </p:cNvSpPr>
          <p:nvPr/>
        </p:nvSpPr>
        <p:spPr>
          <a:xfrm xmlns:a="http://schemas.openxmlformats.org/drawingml/2006/main">
            <a:off x="1162050" y="4714875"/>
            <a:ext cx="100012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25251F"/>
                </a:solidFill>
                <a:latin typeface="Helvetica Neue"/>
                <a:ea typeface="Helvetica Neue"/>
                <a:cs typeface="Helvetica Neue"/>
              </a:defRPr>
            </a:pPr>
            <a:r>
              <a:rPr sz="2400" b="0">
                <a:solidFill>
                  <a:srgbClr val="25251F"/>
                </a:solidFill>
                <a:latin typeface="Helvetica Neue"/>
                <a:ea typeface="Helvetica Neue"/>
                <a:cs typeface="Helvetica Neue"/>
              </a:rPr>
              <a:t>Use repository context. Inspect the change. Rehearse again.</a:t>
            </a:r>
          </a:p>
        </p:txBody>
      </p:sp>
      <p:sp>
        <p:nvSpPr>
          <p:cNvPr id="7" name="text-29">
            <a:extLst xmlns:a="http://schemas.openxmlformats.org/drawingml/2006/main">
              <a:ext uri="{FF2B5EF4-FFF2-40B4-BE49-F238E27FC236}">
                <a16:creationId xmlns:a16="http://schemas.microsoft.com/office/drawing/2014/main" id="{B891E93A-4592-41E2-AD59-3D8DFDEDC093}"/>
              </a:ext>
            </a:extLst>
          </p:cNvPr>
          <p:cNvSpPr>
            <a:spLocks xmlns:a="http://schemas.openxmlformats.org/drawingml/2006/main" noGrp="1"/>
          </p:cNvSpPr>
          <p:nvPr/>
        </p:nvSpPr>
        <p:spPr>
          <a:xfrm xmlns:a="http://schemas.openxmlformats.org/drawingml/2006/main">
            <a:off x="752475" y="5857875"/>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65665E"/>
                </a:solidFill>
                <a:latin typeface="Helvetica Neue"/>
                <a:ea typeface="Helvetica Neue"/>
                <a:cs typeface="Helvetica Neue"/>
              </a:defRPr>
            </a:pPr>
            <a:r>
              <a:rPr sz="1575" b="0">
                <a:solidFill>
                  <a:srgbClr val="65665E"/>
                </a:solidFill>
                <a:latin typeface="Helvetica Neue"/>
                <a:ea typeface="Helvetica Neue"/>
                <a:cs typeface="Helvetica Neue"/>
              </a:rPr>
              <a:t>Manual handoff. Supplied sample repairs are authored examples.</a:t>
            </a:r>
          </a:p>
        </p:txBody>
      </p:sp>
    </p:spTree>
    <p:extLst>
      <p:ext uri="{BB962C8B-B14F-4D97-AF65-F5344CB8AC3E}">
        <p14:creationId xmlns:p14="http://schemas.microsoft.com/office/powerpoint/2010/main" val="774830535"/>
      </p:ext>
    </p:extLst>
  </p:cSld>
</p:sld>
</file>

<file path=ppt/slides/slide7.xml><?xml version="1.0" encoding="utf-8"?>
<p:sld xmlns:p="http://schemas.openxmlformats.org/presentationml/2006/main">
  <p:cSld>
    <p:bg>
      <p:bgPr>
        <a:solidFill xmlns:a="http://schemas.openxmlformats.org/drawingml/2006/main">
          <a:srgbClr val="F6F3EB"/>
        </a:solidFill>
      </p:bgPr>
    </p:bg>
    <p:spTree>
      <p:nvGrpSpPr>
        <p:cNvPr id="1" name=""/>
        <p:cNvGrpSpPr/>
        <p:nvPr/>
      </p:nvGrpSpPr>
      <p:grpSpPr>
        <a:xfrm xmlns:a="http://schemas.openxmlformats.org/drawingml/2006/main"/>
      </p:grpSpPr>
      <p:sp>
        <p:nvSpPr>
          <p:cNvPr id="12" name="text-30">
            <a:extLst xmlns:a="http://schemas.openxmlformats.org/drawingml/2006/main">
              <a:ext uri="{FF2B5EF4-FFF2-40B4-BE49-F238E27FC236}">
                <a16:creationId xmlns:a16="http://schemas.microsoft.com/office/drawing/2014/main" id="{02FB4335-F515-45E9-993D-B32B6B33C960}"/>
              </a:ext>
            </a:extLst>
          </p:cNvPr>
          <p:cNvSpPr>
            <a:spLocks xmlns:a="http://schemas.openxmlformats.org/drawingml/2006/main" noGrp="1"/>
          </p:cNvSpPr>
          <p:nvPr/>
        </p:nvSpPr>
        <p:spPr>
          <a:xfrm xmlns:a="http://schemas.openxmlformats.org/drawingml/2006/main">
            <a:off x="666750" y="59055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750" b="1">
                <a:solidFill>
                  <a:srgbClr val="25251F"/>
                </a:solidFill>
                <a:latin typeface="Helvetica Neue"/>
                <a:ea typeface="Helvetica Neue"/>
                <a:cs typeface="Helvetica Neue"/>
              </a:defRPr>
            </a:pPr>
            <a:r>
              <a:rPr sz="3750" b="1">
                <a:solidFill>
                  <a:srgbClr val="25251F"/>
                </a:solidFill>
                <a:latin typeface="Helvetica Neue"/>
                <a:ea typeface="Helvetica Neue"/>
                <a:cs typeface="Helvetica Neue"/>
              </a:rPr>
              <a:t>A focused commercial starting point</a:t>
            </a:r>
          </a:p>
        </p:txBody>
      </p:sp>
      <p:sp>
        <p:nvSpPr>
          <p:cNvPr id="2" name="text-31">
            <a:extLst xmlns:a="http://schemas.openxmlformats.org/drawingml/2006/main">
              <a:ext uri="{FF2B5EF4-FFF2-40B4-BE49-F238E27FC236}">
                <a16:creationId xmlns:a16="http://schemas.microsoft.com/office/drawing/2014/main" id="{CC1FC9C5-2632-41CD-9578-79E2F588AF2F}"/>
              </a:ext>
            </a:extLst>
          </p:cNvPr>
          <p:cNvSpPr>
            <a:spLocks xmlns:a="http://schemas.openxmlformats.org/drawingml/2006/main" noGrp="1"/>
          </p:cNvSpPr>
          <p:nvPr/>
        </p:nvSpPr>
        <p:spPr>
          <a:xfrm xmlns:a="http://schemas.openxmlformats.org/drawingml/2006/main">
            <a:off x="666750" y="6343650"/>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5665E"/>
                </a:solidFill>
                <a:latin typeface="Helvetica Neue"/>
                <a:ea typeface="Helvetica Neue"/>
                <a:cs typeface="Helvetica Neue"/>
              </a:defRPr>
            </a:pPr>
            <a:r>
              <a:rPr sz="1200" b="0">
                <a:solidFill>
                  <a:srgbClr val="65665E"/>
                </a:solidFill>
                <a:latin typeface="Helvetica Neue"/>
                <a:ea typeface="Helvetica Neue"/>
                <a:cs typeface="Helvetica Neue"/>
              </a:rPr>
              <a:t>UndoProof  /  07</a:t>
            </a:r>
          </a:p>
        </p:txBody>
      </p:sp>
      <p:sp>
        <p:nvSpPr>
          <p:cNvPr id="3" name="text-32">
            <a:extLst xmlns:a="http://schemas.openxmlformats.org/drawingml/2006/main">
              <a:ext uri="{FF2B5EF4-FFF2-40B4-BE49-F238E27FC236}">
                <a16:creationId xmlns:a16="http://schemas.microsoft.com/office/drawing/2014/main" id="{4418438C-867A-4AC3-A12B-24F0DFC8378F}"/>
              </a:ext>
            </a:extLst>
          </p:cNvPr>
          <p:cNvSpPr>
            <a:spLocks xmlns:a="http://schemas.openxmlformats.org/drawingml/2006/main" noGrp="1"/>
          </p:cNvSpPr>
          <p:nvPr/>
        </p:nvSpPr>
        <p:spPr>
          <a:xfrm xmlns:a="http://schemas.openxmlformats.org/drawingml/2006/main">
            <a:off x="733425" y="1952625"/>
            <a:ext cx="5048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DE4F2A"/>
                </a:solidFill>
                <a:latin typeface="Helvetica Neue"/>
                <a:ea typeface="Helvetica Neue"/>
                <a:cs typeface="Helvetica Neue"/>
              </a:defRPr>
            </a:pPr>
            <a:r>
              <a:rPr sz="2175" b="1">
                <a:solidFill>
                  <a:srgbClr val="DE4F2A"/>
                </a:solidFill>
                <a:latin typeface="Helvetica Neue"/>
                <a:ea typeface="Helvetica Neue"/>
                <a:cs typeface="Helvetica Neue"/>
              </a:rPr>
              <a:t>The first buyer</a:t>
            </a:r>
          </a:p>
        </p:txBody>
      </p:sp>
      <p:sp>
        <p:nvSpPr>
          <p:cNvPr id="4" name="text-33">
            <a:extLst xmlns:a="http://schemas.openxmlformats.org/drawingml/2006/main">
              <a:ext uri="{FF2B5EF4-FFF2-40B4-BE49-F238E27FC236}">
                <a16:creationId xmlns:a16="http://schemas.microsoft.com/office/drawing/2014/main" id="{69F4B9DA-F4B7-48B6-85FC-660A77E7CC92}"/>
              </a:ext>
            </a:extLst>
          </p:cNvPr>
          <p:cNvSpPr>
            <a:spLocks xmlns:a="http://schemas.openxmlformats.org/drawingml/2006/main" noGrp="1"/>
          </p:cNvSpPr>
          <p:nvPr/>
        </p:nvSpPr>
        <p:spPr>
          <a:xfrm xmlns:a="http://schemas.openxmlformats.org/drawingml/2006/main">
            <a:off x="733425" y="2543175"/>
            <a:ext cx="533400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25251F"/>
                </a:solidFill>
                <a:latin typeface="Helvetica Neue"/>
                <a:ea typeface="Helvetica Neue"/>
                <a:cs typeface="Helvetica Neue"/>
              </a:defRPr>
            </a:pPr>
            <a:r>
              <a:rPr sz="2850" b="1">
                <a:solidFill>
                  <a:srgbClr val="25251F"/>
                </a:solidFill>
                <a:latin typeface="Helvetica Neue"/>
                <a:ea typeface="Helvetica Neue"/>
                <a:cs typeface="Helvetica Neue"/>
              </a:rPr>
              <a:t>Platform leads at SaaS teams</a:t>
            </a:r>
          </a:p>
          <a:p xmlns:a="http://schemas.openxmlformats.org/drawingml/2006/main">
            <a:pPr>
              <a:defRPr sz="2850" b="1">
                <a:solidFill>
                  <a:srgbClr val="25251F"/>
                </a:solidFill>
                <a:latin typeface="Helvetica Neue"/>
                <a:ea typeface="Helvetica Neue"/>
                <a:cs typeface="Helvetica Neue"/>
              </a:defRPr>
            </a:pPr>
            <a:r>
              <a:rPr sz="2850" b="1">
                <a:solidFill>
                  <a:srgbClr val="25251F"/>
                </a:solidFill>
                <a:latin typeface="Helvetica Neue"/>
                <a:ea typeface="Helvetica Neue"/>
                <a:cs typeface="Helvetica Neue"/>
              </a:rPr>
              <a:t>shipping database changes</a:t>
            </a:r>
          </a:p>
        </p:txBody>
      </p:sp>
      <p:sp>
        <p:nvSpPr>
          <p:cNvPr id="5" name="text-34">
            <a:extLst xmlns:a="http://schemas.openxmlformats.org/drawingml/2006/main">
              <a:ext uri="{FF2B5EF4-FFF2-40B4-BE49-F238E27FC236}">
                <a16:creationId xmlns:a16="http://schemas.microsoft.com/office/drawing/2014/main" id="{967E2A04-6314-4D87-8C30-BD0397344F50}"/>
              </a:ext>
            </a:extLst>
          </p:cNvPr>
          <p:cNvSpPr>
            <a:spLocks xmlns:a="http://schemas.openxmlformats.org/drawingml/2006/main" noGrp="1"/>
          </p:cNvSpPr>
          <p:nvPr/>
        </p:nvSpPr>
        <p:spPr>
          <a:xfrm xmlns:a="http://schemas.openxmlformats.org/drawingml/2006/main">
            <a:off x="733425" y="4210050"/>
            <a:ext cx="5048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DE4F2A"/>
                </a:solidFill>
                <a:latin typeface="Helvetica Neue"/>
                <a:ea typeface="Helvetica Neue"/>
                <a:cs typeface="Helvetica Neue"/>
              </a:defRPr>
            </a:pPr>
            <a:r>
              <a:rPr sz="2175" b="1">
                <a:solidFill>
                  <a:srgbClr val="DE4F2A"/>
                </a:solidFill>
                <a:latin typeface="Helvetica Neue"/>
                <a:ea typeface="Helvetica Neue"/>
                <a:cs typeface="Helvetica Neue"/>
              </a:rPr>
              <a:t>The adoption trigger</a:t>
            </a:r>
          </a:p>
        </p:txBody>
      </p:sp>
      <p:sp>
        <p:nvSpPr>
          <p:cNvPr id="6" name="text-35">
            <a:extLst xmlns:a="http://schemas.openxmlformats.org/drawingml/2006/main">
              <a:ext uri="{FF2B5EF4-FFF2-40B4-BE49-F238E27FC236}">
                <a16:creationId xmlns:a16="http://schemas.microsoft.com/office/drawing/2014/main" id="{B15C4E05-6E33-4E0C-ACED-4B3DBBB8AAC5}"/>
              </a:ext>
            </a:extLst>
          </p:cNvPr>
          <p:cNvSpPr>
            <a:spLocks xmlns:a="http://schemas.openxmlformats.org/drawingml/2006/main" noGrp="1"/>
          </p:cNvSpPr>
          <p:nvPr/>
        </p:nvSpPr>
        <p:spPr>
          <a:xfrm xmlns:a="http://schemas.openxmlformats.org/drawingml/2006/main">
            <a:off x="733425" y="4791075"/>
            <a:ext cx="53340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25251F"/>
                </a:solidFill>
                <a:latin typeface="Helvetica Neue"/>
                <a:ea typeface="Helvetica Neue"/>
                <a:cs typeface="Helvetica Neue"/>
              </a:defRPr>
            </a:pPr>
            <a:r>
              <a:rPr sz="2850" b="0">
                <a:solidFill>
                  <a:srgbClr val="25251F"/>
                </a:solidFill>
                <a:latin typeface="Helvetica Neue"/>
                <a:ea typeface="Helvetica Neue"/>
                <a:cs typeface="Helvetica Neue"/>
              </a:rPr>
              <a:t>The next migration</a:t>
            </a:r>
          </a:p>
          <a:p xmlns:a="http://schemas.openxmlformats.org/drawingml/2006/main">
            <a:pPr>
              <a:defRPr sz="2850" b="0">
                <a:solidFill>
                  <a:srgbClr val="25251F"/>
                </a:solidFill>
                <a:latin typeface="Helvetica Neue"/>
                <a:ea typeface="Helvetica Neue"/>
                <a:cs typeface="Helvetica Neue"/>
              </a:defRPr>
            </a:pPr>
            <a:r>
              <a:rPr sz="2850" b="0">
                <a:solidFill>
                  <a:srgbClr val="25251F"/>
                </a:solidFill>
                <a:latin typeface="Helvetica Neue"/>
                <a:ea typeface="Helvetica Neue"/>
                <a:cs typeface="Helvetica Neue"/>
              </a:rPr>
              <a:t>pull request</a:t>
            </a:r>
          </a:p>
        </p:txBody>
      </p:sp>
      <p:sp>
        <p:nvSpPr>
          <p:cNvPr id="7" name="text-36">
            <a:extLst xmlns:a="http://schemas.openxmlformats.org/drawingml/2006/main">
              <a:ext uri="{FF2B5EF4-FFF2-40B4-BE49-F238E27FC236}">
                <a16:creationId xmlns:a16="http://schemas.microsoft.com/office/drawing/2014/main" id="{7515A2ED-1096-4167-BD2A-EB719AC3D64A}"/>
              </a:ext>
            </a:extLst>
          </p:cNvPr>
          <p:cNvSpPr>
            <a:spLocks xmlns:a="http://schemas.openxmlformats.org/drawingml/2006/main" noGrp="1"/>
          </p:cNvSpPr>
          <p:nvPr/>
        </p:nvSpPr>
        <p:spPr>
          <a:xfrm xmlns:a="http://schemas.openxmlformats.org/drawingml/2006/main">
            <a:off x="7143750" y="1952625"/>
            <a:ext cx="41910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800" b="1">
                <a:solidFill>
                  <a:srgbClr val="25251F"/>
                </a:solidFill>
                <a:latin typeface="Helvetica Neue"/>
                <a:ea typeface="Helvetica Neue"/>
                <a:cs typeface="Helvetica Neue"/>
              </a:defRPr>
            </a:pPr>
            <a:r>
              <a:rPr sz="4800" b="1">
                <a:solidFill>
                  <a:srgbClr val="25251F"/>
                </a:solidFill>
                <a:latin typeface="Helvetica Neue"/>
                <a:ea typeface="Helvetica Neue"/>
                <a:cs typeface="Helvetica Neue"/>
              </a:rPr>
              <a:t>Free</a:t>
            </a:r>
          </a:p>
        </p:txBody>
      </p:sp>
      <p:sp>
        <p:nvSpPr>
          <p:cNvPr id="8" name="text-37">
            <a:extLst xmlns:a="http://schemas.openxmlformats.org/drawingml/2006/main">
              <a:ext uri="{FF2B5EF4-FFF2-40B4-BE49-F238E27FC236}">
                <a16:creationId xmlns:a16="http://schemas.microsoft.com/office/drawing/2014/main" id="{917928BA-8A37-486A-AC74-AAD4B65F9383}"/>
              </a:ext>
            </a:extLst>
          </p:cNvPr>
          <p:cNvSpPr>
            <a:spLocks xmlns:a="http://schemas.openxmlformats.org/drawingml/2006/main" noGrp="1"/>
          </p:cNvSpPr>
          <p:nvPr/>
        </p:nvSpPr>
        <p:spPr>
          <a:xfrm xmlns:a="http://schemas.openxmlformats.org/drawingml/2006/main">
            <a:off x="7143750" y="2838450"/>
            <a:ext cx="4191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65665E"/>
                </a:solidFill>
                <a:latin typeface="Helvetica Neue"/>
                <a:ea typeface="Helvetica Neue"/>
                <a:cs typeface="Helvetica Neue"/>
              </a:defRPr>
            </a:pPr>
            <a:r>
              <a:rPr sz="2100" b="0">
                <a:solidFill>
                  <a:srgbClr val="65665E"/>
                </a:solidFill>
                <a:latin typeface="Helvetica Neue"/>
                <a:ea typeface="Helvetica Neue"/>
                <a:cs typeface="Helvetica Neue"/>
              </a:rPr>
              <a:t>MIT local runner + CI</a:t>
            </a:r>
          </a:p>
        </p:txBody>
      </p:sp>
      <p:sp>
        <p:nvSpPr>
          <p:cNvPr id="9" name="text-38">
            <a:extLst xmlns:a="http://schemas.openxmlformats.org/drawingml/2006/main">
              <a:ext uri="{FF2B5EF4-FFF2-40B4-BE49-F238E27FC236}">
                <a16:creationId xmlns:a16="http://schemas.microsoft.com/office/drawing/2014/main" id="{4B884D77-811B-46DA-87F1-315819DD3B71}"/>
              </a:ext>
            </a:extLst>
          </p:cNvPr>
          <p:cNvSpPr>
            <a:spLocks xmlns:a="http://schemas.openxmlformats.org/drawingml/2006/main" noGrp="1"/>
          </p:cNvSpPr>
          <p:nvPr/>
        </p:nvSpPr>
        <p:spPr>
          <a:xfrm xmlns:a="http://schemas.openxmlformats.org/drawingml/2006/main">
            <a:off x="7143750" y="4105275"/>
            <a:ext cx="4381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25251F"/>
                </a:solidFill>
                <a:latin typeface="Helvetica Neue"/>
                <a:ea typeface="Helvetica Neue"/>
                <a:cs typeface="Helvetica Neue"/>
              </a:defRPr>
            </a:pPr>
            <a:r>
              <a:rPr sz="3000" b="1">
                <a:solidFill>
                  <a:srgbClr val="25251F"/>
                </a:solidFill>
                <a:latin typeface="Helvetica Neue"/>
                <a:ea typeface="Helvetica Neue"/>
                <a:cs typeface="Helvetica Neue"/>
              </a:rPr>
              <a:t>$99 / team / month</a:t>
            </a:r>
          </a:p>
        </p:txBody>
      </p:sp>
      <p:sp>
        <p:nvSpPr>
          <p:cNvPr id="10" name="text-39">
            <a:extLst xmlns:a="http://schemas.openxmlformats.org/drawingml/2006/main">
              <a:ext uri="{FF2B5EF4-FFF2-40B4-BE49-F238E27FC236}">
                <a16:creationId xmlns:a16="http://schemas.microsoft.com/office/drawing/2014/main" id="{EDAB5572-DE8E-4B47-ACBC-7C5033A43885}"/>
              </a:ext>
            </a:extLst>
          </p:cNvPr>
          <p:cNvSpPr>
            <a:spLocks xmlns:a="http://schemas.openxmlformats.org/drawingml/2006/main" noGrp="1"/>
          </p:cNvSpPr>
          <p:nvPr/>
        </p:nvSpPr>
        <p:spPr>
          <a:xfrm xmlns:a="http://schemas.openxmlformats.org/drawingml/2006/main">
            <a:off x="7143750" y="4857750"/>
            <a:ext cx="4095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65665E"/>
                </a:solidFill>
                <a:latin typeface="Helvetica Neue"/>
                <a:ea typeface="Helvetica Neue"/>
                <a:cs typeface="Helvetica Neue"/>
              </a:defRPr>
            </a:pPr>
            <a:r>
              <a:rPr sz="2100" b="0">
                <a:solidFill>
                  <a:srgbClr val="65665E"/>
                </a:solidFill>
                <a:latin typeface="Helvetica Neue"/>
                <a:ea typeface="Helvetica Neue"/>
                <a:cs typeface="Helvetica Neue"/>
              </a:rPr>
              <a:t>Proposed shared policies</a:t>
            </a:r>
          </a:p>
          <a:p xmlns:a="http://schemas.openxmlformats.org/drawingml/2006/main">
            <a:pPr>
              <a:defRPr sz="2100" b="0">
                <a:solidFill>
                  <a:srgbClr val="65665E"/>
                </a:solidFill>
                <a:latin typeface="Helvetica Neue"/>
                <a:ea typeface="Helvetica Neue"/>
                <a:cs typeface="Helvetica Neue"/>
              </a:defRPr>
            </a:pPr>
            <a:r>
              <a:rPr sz="2100" b="0">
                <a:solidFill>
                  <a:srgbClr val="65665E"/>
                </a:solidFill>
                <a:latin typeface="Helvetica Neue"/>
                <a:ea typeface="Helvetica Neue"/>
                <a:cs typeface="Helvetica Neue"/>
              </a:rPr>
              <a:t>and retained evidence</a:t>
            </a:r>
          </a:p>
        </p:txBody>
      </p:sp>
      <p:sp>
        <p:nvSpPr>
          <p:cNvPr id="11" name="text-40">
            <a:extLst xmlns:a="http://schemas.openxmlformats.org/drawingml/2006/main">
              <a:ext uri="{FF2B5EF4-FFF2-40B4-BE49-F238E27FC236}">
                <a16:creationId xmlns:a16="http://schemas.microsoft.com/office/drawing/2014/main" id="{B91C09E3-EFEE-4769-BD7E-F3C2A81CDAAF}"/>
              </a:ext>
            </a:extLst>
          </p:cNvPr>
          <p:cNvSpPr>
            <a:spLocks xmlns:a="http://schemas.openxmlformats.org/drawingml/2006/main" noGrp="1"/>
          </p:cNvSpPr>
          <p:nvPr/>
        </p:nvSpPr>
        <p:spPr>
          <a:xfrm xmlns:a="http://schemas.openxmlformats.org/drawingml/2006/main">
            <a:off x="7143750" y="5838825"/>
            <a:ext cx="42862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DE4F2A"/>
                </a:solidFill>
                <a:latin typeface="Helvetica Neue"/>
                <a:ea typeface="Helvetica Neue"/>
                <a:cs typeface="Helvetica Neue"/>
              </a:defRPr>
            </a:pPr>
            <a:r>
              <a:rPr sz="1425" b="0">
                <a:solidFill>
                  <a:srgbClr val="DE4F2A"/>
                </a:solidFill>
                <a:latin typeface="Helvetica Neue"/>
                <a:ea typeface="Helvetica Neue"/>
                <a:cs typeface="Helvetica Neue"/>
              </a:rPr>
              <a:t>Pricing hypothesis</a:t>
            </a:r>
          </a:p>
        </p:txBody>
      </p:sp>
    </p:spTree>
    <p:extLst>
      <p:ext uri="{BB962C8B-B14F-4D97-AF65-F5344CB8AC3E}">
        <p14:creationId xmlns:p14="http://schemas.microsoft.com/office/powerpoint/2010/main" val="258465082"/>
      </p:ext>
    </p:extLst>
  </p:cSld>
</p:sld>
</file>

<file path=ppt/slides/slide8.xml><?xml version="1.0" encoding="utf-8"?>
<p:sld xmlns:p="http://schemas.openxmlformats.org/presentationml/2006/main">
  <p:cSld>
    <p:bg>
      <p:bgPr>
        <a:solidFill xmlns:a="http://schemas.openxmlformats.org/drawingml/2006/main">
          <a:srgbClr val="F6F3EB"/>
        </a:solidFill>
      </p:bgPr>
    </p:bg>
    <p:spTree>
      <p:nvGrpSpPr>
        <p:cNvPr id="1" name=""/>
        <p:cNvGrpSpPr/>
        <p:nvPr/>
      </p:nvGrpSpPr>
      <p:grpSpPr>
        <a:xfrm xmlns:a="http://schemas.openxmlformats.org/drawingml/2006/main"/>
      </p:grpSpPr>
      <p:sp>
        <p:nvSpPr>
          <p:cNvPr id="6" name="text-41">
            <a:extLst xmlns:a="http://schemas.openxmlformats.org/drawingml/2006/main">
              <a:ext uri="{FF2B5EF4-FFF2-40B4-BE49-F238E27FC236}">
                <a16:creationId xmlns:a16="http://schemas.microsoft.com/office/drawing/2014/main" id="{0654CF0E-925C-4307-B87C-FA356B07E6EC}"/>
              </a:ext>
            </a:extLst>
          </p:cNvPr>
          <p:cNvSpPr>
            <a:spLocks xmlns:a="http://schemas.openxmlformats.org/drawingml/2006/main" noGrp="1"/>
          </p:cNvSpPr>
          <p:nvPr/>
        </p:nvSpPr>
        <p:spPr>
          <a:xfrm xmlns:a="http://schemas.openxmlformats.org/drawingml/2006/main">
            <a:off x="666750" y="59055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750" b="1">
                <a:solidFill>
                  <a:srgbClr val="25251F"/>
                </a:solidFill>
                <a:latin typeface="Helvetica Neue"/>
                <a:ea typeface="Helvetica Neue"/>
                <a:cs typeface="Helvetica Neue"/>
              </a:defRPr>
            </a:pPr>
            <a:r>
              <a:rPr sz="3750" b="1">
                <a:solidFill>
                  <a:srgbClr val="25251F"/>
                </a:solidFill>
                <a:latin typeface="Helvetica Neue"/>
                <a:ea typeface="Helvetica Neue"/>
                <a:cs typeface="Helvetica Neue"/>
              </a:rPr>
              <a:t>A complement to migration tools</a:t>
            </a:r>
          </a:p>
        </p:txBody>
      </p:sp>
      <p:sp>
        <p:nvSpPr>
          <p:cNvPr id="2" name="text-42">
            <a:extLst xmlns:a="http://schemas.openxmlformats.org/drawingml/2006/main">
              <a:ext uri="{FF2B5EF4-FFF2-40B4-BE49-F238E27FC236}">
                <a16:creationId xmlns:a16="http://schemas.microsoft.com/office/drawing/2014/main" id="{F7A3EC50-7EF6-4EB9-A5E7-8D85CDCD0595}"/>
              </a:ext>
            </a:extLst>
          </p:cNvPr>
          <p:cNvSpPr>
            <a:spLocks xmlns:a="http://schemas.openxmlformats.org/drawingml/2006/main" noGrp="1"/>
          </p:cNvSpPr>
          <p:nvPr/>
        </p:nvSpPr>
        <p:spPr>
          <a:xfrm xmlns:a="http://schemas.openxmlformats.org/drawingml/2006/main">
            <a:off x="666750" y="6343650"/>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5665E"/>
                </a:solidFill>
                <a:latin typeface="Helvetica Neue"/>
                <a:ea typeface="Helvetica Neue"/>
                <a:cs typeface="Helvetica Neue"/>
              </a:defRPr>
            </a:pPr>
            <a:r>
              <a:rPr sz="1200" b="0">
                <a:solidFill>
                  <a:srgbClr val="65665E"/>
                </a:solidFill>
                <a:latin typeface="Helvetica Neue"/>
                <a:ea typeface="Helvetica Neue"/>
                <a:cs typeface="Helvetica Neue"/>
              </a:rPr>
              <a:t>UndoProof  /  08</a:t>
            </a:r>
          </a:p>
        </p:txBody>
      </p:sp>
      <p:sp>
        <p:nvSpPr>
          <p:cNvPr id="3" name="text-43">
            <a:extLst xmlns:a="http://schemas.openxmlformats.org/drawingml/2006/main">
              <a:ext uri="{FF2B5EF4-FFF2-40B4-BE49-F238E27FC236}">
                <a16:creationId xmlns:a16="http://schemas.microsoft.com/office/drawing/2014/main" id="{223B0E6F-EE48-4621-83EE-FC910FE90CAF}"/>
              </a:ext>
            </a:extLst>
          </p:cNvPr>
          <p:cNvSpPr>
            <a:spLocks xmlns:a="http://schemas.openxmlformats.org/drawingml/2006/main" noGrp="1"/>
          </p:cNvSpPr>
          <p:nvPr/>
        </p:nvSpPr>
        <p:spPr>
          <a:xfrm xmlns:a="http://schemas.openxmlformats.org/drawingml/2006/main">
            <a:off x="733425" y="1905000"/>
            <a:ext cx="1047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25251F"/>
                </a:solidFill>
                <a:latin typeface="Helvetica Neue"/>
                <a:ea typeface="Helvetica Neue"/>
                <a:cs typeface="Helvetica Neue"/>
              </a:defRPr>
            </a:pPr>
            <a:r>
              <a:rPr sz="2400" b="0">
                <a:solidFill>
                  <a:srgbClr val="25251F"/>
                </a:solidFill>
                <a:latin typeface="Helvetica Neue"/>
                <a:ea typeface="Helvetica Neue"/>
                <a:cs typeface="Helvetica Neue"/>
              </a:rPr>
              <a:t>Atlas, Liquibase and Flyway already manage migrations</a:t>
            </a:r>
          </a:p>
          <a:p xmlns:a="http://schemas.openxmlformats.org/drawingml/2006/main">
            <a:pPr>
              <a:defRPr sz="2400" b="0">
                <a:solidFill>
                  <a:srgbClr val="25251F"/>
                </a:solidFill>
                <a:latin typeface="Helvetica Neue"/>
                <a:ea typeface="Helvetica Neue"/>
                <a:cs typeface="Helvetica Neue"/>
              </a:defRPr>
            </a:pPr>
            <a:r>
              <a:rPr sz="2400" b="0">
                <a:solidFill>
                  <a:srgbClr val="25251F"/>
                </a:solidFill>
                <a:latin typeface="Helvetica Neue"/>
                <a:ea typeface="Helvetica Neue"/>
                <a:cs typeface="Helvetica Neue"/>
              </a:rPr>
              <a:t>and support recovery workflows.</a:t>
            </a:r>
          </a:p>
        </p:txBody>
      </p:sp>
      <p:sp>
        <p:nvSpPr>
          <p:cNvPr id="4" name="text-44">
            <a:extLst xmlns:a="http://schemas.openxmlformats.org/drawingml/2006/main">
              <a:ext uri="{FF2B5EF4-FFF2-40B4-BE49-F238E27FC236}">
                <a16:creationId xmlns:a16="http://schemas.microsoft.com/office/drawing/2014/main" id="{95DB04F0-DB93-4852-A31E-52652B2A15D4}"/>
              </a:ext>
            </a:extLst>
          </p:cNvPr>
          <p:cNvSpPr>
            <a:spLocks xmlns:a="http://schemas.openxmlformats.org/drawingml/2006/main" noGrp="1"/>
          </p:cNvSpPr>
          <p:nvPr/>
        </p:nvSpPr>
        <p:spPr>
          <a:xfrm xmlns:a="http://schemas.openxmlformats.org/drawingml/2006/main">
            <a:off x="733425" y="3286125"/>
            <a:ext cx="10477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DE4F2A"/>
                </a:solidFill>
                <a:latin typeface="Helvetica Neue"/>
                <a:ea typeface="Helvetica Neue"/>
                <a:cs typeface="Helvetica Neue"/>
              </a:defRPr>
            </a:pPr>
            <a:r>
              <a:rPr sz="2850" b="1">
                <a:solidFill>
                  <a:srgbClr val="DE4F2A"/>
                </a:solidFill>
                <a:latin typeface="Helvetica Neue"/>
                <a:ea typeface="Helvetica Neue"/>
                <a:cs typeface="Helvetica Neue"/>
              </a:rPr>
              <a:t>UndoProof focuses the review on old/new query</a:t>
            </a:r>
          </a:p>
          <a:p xmlns:a="http://schemas.openxmlformats.org/drawingml/2006/main">
            <a:pPr>
              <a:defRPr sz="2850" b="1">
                <a:solidFill>
                  <a:srgbClr val="DE4F2A"/>
                </a:solidFill>
                <a:latin typeface="Helvetica Neue"/>
                <a:ea typeface="Helvetica Neue"/>
                <a:cs typeface="Helvetica Neue"/>
              </a:defRPr>
            </a:pPr>
            <a:r>
              <a:rPr sz="2850" b="1">
                <a:solidFill>
                  <a:srgbClr val="DE4F2A"/>
                </a:solidFill>
                <a:latin typeface="Helvetica Neue"/>
                <a:ea typeface="Helvetica Neue"/>
                <a:cs typeface="Helvetica Neue"/>
              </a:rPr>
              <a:t>compatibility and data written after deployment.</a:t>
            </a:r>
          </a:p>
        </p:txBody>
      </p:sp>
      <p:sp>
        <p:nvSpPr>
          <p:cNvPr id="5" name="text-45">
            <a:extLst xmlns:a="http://schemas.openxmlformats.org/drawingml/2006/main">
              <a:ext uri="{FF2B5EF4-FFF2-40B4-BE49-F238E27FC236}">
                <a16:creationId xmlns:a16="http://schemas.microsoft.com/office/drawing/2014/main" id="{001DF5B9-BA26-42EA-AEFB-E70CFE077C6A}"/>
              </a:ext>
            </a:extLst>
          </p:cNvPr>
          <p:cNvSpPr>
            <a:spLocks xmlns:a="http://schemas.openxmlformats.org/drawingml/2006/main" noGrp="1"/>
          </p:cNvSpPr>
          <p:nvPr/>
        </p:nvSpPr>
        <p:spPr>
          <a:xfrm xmlns:a="http://schemas.openxmlformats.org/drawingml/2006/main">
            <a:off x="733425" y="5219700"/>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65665E"/>
                </a:solidFill>
                <a:latin typeface="Helvetica Neue"/>
                <a:ea typeface="Helvetica Neue"/>
                <a:cs typeface="Helvetica Neue"/>
              </a:defRPr>
            </a:pPr>
            <a:r>
              <a:rPr sz="1950" b="0">
                <a:solidFill>
                  <a:srgbClr val="65665E"/>
                </a:solidFill>
                <a:latin typeface="Helvetica Neue"/>
                <a:ea typeface="Helvetica Neue"/>
                <a:cs typeface="Helvetica Neue"/>
              </a:rPr>
              <a:t>Tested SQL and fixtures only. Full application behavior, concurrency</a:t>
            </a:r>
          </a:p>
          <a:p xmlns:a="http://schemas.openxmlformats.org/drawingml/2006/main">
            <a:pPr>
              <a:defRPr sz="1950" b="0">
                <a:solidFill>
                  <a:srgbClr val="65665E"/>
                </a:solidFill>
                <a:latin typeface="Helvetica Neue"/>
                <a:ea typeface="Helvetica Neue"/>
                <a:cs typeface="Helvetica Neue"/>
              </a:defRPr>
            </a:pPr>
            <a:r>
              <a:rPr sz="1950" b="0">
                <a:solidFill>
                  <a:srgbClr val="65665E"/>
                </a:solidFill>
                <a:latin typeface="Helvetica Neue"/>
                <a:ea typeface="Helvetica Neue"/>
                <a:cs typeface="Helvetica Neue"/>
              </a:rPr>
              <a:t>and production locks remain outside this prototype.</a:t>
            </a:r>
          </a:p>
        </p:txBody>
      </p:sp>
    </p:spTree>
    <p:extLst>
      <p:ext uri="{BB962C8B-B14F-4D97-AF65-F5344CB8AC3E}">
        <p14:creationId xmlns:p14="http://schemas.microsoft.com/office/powerpoint/2010/main" val="230211673"/>
      </p:ext>
    </p:extLst>
  </p:cSld>
</p:sld>
</file>

<file path=ppt/slides/slide9.xml><?xml version="1.0" encoding="utf-8"?>
<p:sld xmlns:p="http://schemas.openxmlformats.org/presentationml/2006/main">
  <p:cSld>
    <p:bg>
      <p:bgPr>
        <a:solidFill xmlns:a="http://schemas.openxmlformats.org/drawingml/2006/main">
          <a:srgbClr val="25251F"/>
        </a:solidFill>
      </p:bgPr>
    </p:bg>
    <p:spTree>
      <p:nvGrpSpPr>
        <p:cNvPr id="1" name=""/>
        <p:cNvGrpSpPr/>
        <p:nvPr/>
      </p:nvGrpSpPr>
      <p:grpSpPr>
        <a:xfrm xmlns:a="http://schemas.openxmlformats.org/drawingml/2006/main"/>
      </p:grpSpPr>
      <p:sp>
        <p:nvSpPr>
          <p:cNvPr id="7" name="text-46">
            <a:extLst xmlns:a="http://schemas.openxmlformats.org/drawingml/2006/main">
              <a:ext uri="{FF2B5EF4-FFF2-40B4-BE49-F238E27FC236}">
                <a16:creationId xmlns:a16="http://schemas.microsoft.com/office/drawing/2014/main" id="{E49A0CD3-CB73-4795-8C88-9DB8A9B67E9E}"/>
              </a:ext>
            </a:extLst>
          </p:cNvPr>
          <p:cNvSpPr>
            <a:spLocks xmlns:a="http://schemas.openxmlformats.org/drawingml/2006/main" noGrp="1"/>
          </p:cNvSpPr>
          <p:nvPr/>
        </p:nvSpPr>
        <p:spPr>
          <a:xfrm xmlns:a="http://schemas.openxmlformats.org/drawingml/2006/main">
            <a:off x="666750" y="6343650"/>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DBEB5"/>
                </a:solidFill>
                <a:latin typeface="Helvetica Neue"/>
                <a:ea typeface="Helvetica Neue"/>
                <a:cs typeface="Helvetica Neue"/>
              </a:defRPr>
            </a:pPr>
            <a:r>
              <a:rPr sz="1200" b="0">
                <a:solidFill>
                  <a:srgbClr val="BDBEB5"/>
                </a:solidFill>
                <a:latin typeface="Helvetica Neue"/>
                <a:ea typeface="Helvetica Neue"/>
                <a:cs typeface="Helvetica Neue"/>
              </a:rPr>
              <a:t>UndoProof  /  09</a:t>
            </a:r>
          </a:p>
        </p:txBody>
      </p:sp>
      <p:sp>
        <p:nvSpPr>
          <p:cNvPr id="2" name="text-47">
            <a:extLst xmlns:a="http://schemas.openxmlformats.org/drawingml/2006/main">
              <a:ext uri="{FF2B5EF4-FFF2-40B4-BE49-F238E27FC236}">
                <a16:creationId xmlns:a16="http://schemas.microsoft.com/office/drawing/2014/main" id="{AB80EAB8-FFDA-49B4-9112-8D7F8C2DBE73}"/>
              </a:ext>
            </a:extLst>
          </p:cNvPr>
          <p:cNvSpPr>
            <a:spLocks xmlns:a="http://schemas.openxmlformats.org/drawingml/2006/main" noGrp="1"/>
          </p:cNvSpPr>
          <p:nvPr/>
        </p:nvSpPr>
        <p:spPr>
          <a:xfrm xmlns:a="http://schemas.openxmlformats.org/drawingml/2006/main">
            <a:off x="685800" y="1438275"/>
            <a:ext cx="1066800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325" b="1">
                <a:solidFill>
                  <a:srgbClr val="F6F3EB"/>
                </a:solidFill>
                <a:latin typeface="Helvetica Neue"/>
                <a:ea typeface="Helvetica Neue"/>
                <a:cs typeface="Helvetica Neue"/>
              </a:defRPr>
            </a:pPr>
            <a:r>
              <a:rPr sz="5325" b="1">
                <a:solidFill>
                  <a:srgbClr val="F6F3EB"/>
                </a:solidFill>
                <a:latin typeface="Helvetica Neue"/>
                <a:ea typeface="Helvetica Neue"/>
                <a:cs typeface="Helvetica Neue"/>
              </a:rPr>
              <a:t>The way back belongs</a:t>
            </a:r>
          </a:p>
          <a:p xmlns:a="http://schemas.openxmlformats.org/drawingml/2006/main">
            <a:pPr>
              <a:defRPr sz="5325" b="1">
                <a:solidFill>
                  <a:srgbClr val="F6F3EB"/>
                </a:solidFill>
                <a:latin typeface="Helvetica Neue"/>
                <a:ea typeface="Helvetica Neue"/>
                <a:cs typeface="Helvetica Neue"/>
              </a:defRPr>
            </a:pPr>
            <a:r>
              <a:rPr sz="5325" b="1">
                <a:solidFill>
                  <a:srgbClr val="F6F3EB"/>
                </a:solidFill>
                <a:latin typeface="Helvetica Neue"/>
                <a:ea typeface="Helvetica Neue"/>
                <a:cs typeface="Helvetica Neue"/>
              </a:rPr>
              <a:t>in the release review.</a:t>
            </a:r>
          </a:p>
        </p:txBody>
      </p:sp>
      <p:sp>
        <p:nvSpPr>
          <p:cNvPr id="3" name="text-48">
            <a:extLst xmlns:a="http://schemas.openxmlformats.org/drawingml/2006/main">
              <a:ext uri="{FF2B5EF4-FFF2-40B4-BE49-F238E27FC236}">
                <a16:creationId xmlns:a16="http://schemas.microsoft.com/office/drawing/2014/main" id="{3D5C3AFE-5595-4B18-969A-D104BBCD4290}"/>
              </a:ext>
            </a:extLst>
          </p:cNvPr>
          <p:cNvSpPr>
            <a:spLocks xmlns:a="http://schemas.openxmlformats.org/drawingml/2006/main" noGrp="1"/>
          </p:cNvSpPr>
          <p:nvPr/>
        </p:nvSpPr>
        <p:spPr>
          <a:xfrm xmlns:a="http://schemas.openxmlformats.org/drawingml/2006/main">
            <a:off x="723900" y="4276725"/>
            <a:ext cx="8572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DE4F2A"/>
                </a:solidFill>
                <a:latin typeface="Helvetica Neue"/>
                <a:ea typeface="Helvetica Neue"/>
                <a:cs typeface="Helvetica Neue"/>
              </a:defRPr>
            </a:pPr>
            <a:r>
              <a:rPr sz="3450" b="1">
                <a:solidFill>
                  <a:srgbClr val="DE4F2A"/>
                </a:solidFill>
                <a:latin typeface="Helvetica Neue"/>
                <a:ea typeface="Helvetica Neue"/>
                <a:cs typeface="Helvetica Neue"/>
              </a:rPr>
              <a:t>UndoProof</a:t>
            </a:r>
          </a:p>
        </p:txBody>
      </p:sp>
      <p:sp>
        <p:nvSpPr>
          <p:cNvPr id="4" name="text-49">
            <a:extLst xmlns:a="http://schemas.openxmlformats.org/drawingml/2006/main">
              <a:ext uri="{FF2B5EF4-FFF2-40B4-BE49-F238E27FC236}">
                <a16:creationId xmlns:a16="http://schemas.microsoft.com/office/drawing/2014/main" id="{3C5058AC-C6B8-4573-83EE-F55A14708ECD}"/>
              </a:ext>
            </a:extLst>
          </p:cNvPr>
          <p:cNvSpPr>
            <a:spLocks xmlns:a="http://schemas.openxmlformats.org/drawingml/2006/main" noGrp="1"/>
          </p:cNvSpPr>
          <p:nvPr/>
        </p:nvSpPr>
        <p:spPr>
          <a:xfrm xmlns:a="http://schemas.openxmlformats.org/drawingml/2006/main">
            <a:off x="733425" y="5000625"/>
            <a:ext cx="10382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F6F3EB"/>
                </a:solidFill>
                <a:latin typeface="Helvetica Neue"/>
                <a:ea typeface="Helvetica Neue"/>
                <a:cs typeface="Helvetica Neue"/>
              </a:defRPr>
            </a:pPr>
            <a:r>
              <a:rPr sz="2250" b="0">
                <a:solidFill>
                  <a:srgbClr val="F6F3EB"/>
                </a:solidFill>
                <a:latin typeface="Helvetica Neue"/>
                <a:ea typeface="Helvetica Neue"/>
                <a:cs typeface="Helvetica Neue"/>
              </a:rPr>
              <a:t>shi1720.github.io/ibm-bob</a:t>
            </a:r>
          </a:p>
        </p:txBody>
      </p:sp>
      <p:sp>
        <p:nvSpPr>
          <p:cNvPr id="5" name="text-50">
            <a:extLst xmlns:a="http://schemas.openxmlformats.org/drawingml/2006/main">
              <a:ext uri="{FF2B5EF4-FFF2-40B4-BE49-F238E27FC236}">
                <a16:creationId xmlns:a16="http://schemas.microsoft.com/office/drawing/2014/main" id="{79D779ED-6E24-4C23-921E-A52ED0369E64}"/>
              </a:ext>
            </a:extLst>
          </p:cNvPr>
          <p:cNvSpPr>
            <a:spLocks xmlns:a="http://schemas.openxmlformats.org/drawingml/2006/main" noGrp="1"/>
          </p:cNvSpPr>
          <p:nvPr/>
        </p:nvSpPr>
        <p:spPr>
          <a:xfrm xmlns:a="http://schemas.openxmlformats.org/drawingml/2006/main">
            <a:off x="733425" y="54578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BDBEB5"/>
                </a:solidFill>
                <a:latin typeface="Helvetica Neue"/>
                <a:ea typeface="Helvetica Neue"/>
                <a:cs typeface="Helvetica Neue"/>
              </a:defRPr>
            </a:pPr>
            <a:r>
              <a:rPr sz="1650" b="0">
                <a:solidFill>
                  <a:srgbClr val="BDBEB5"/>
                </a:solidFill>
                <a:latin typeface="Helvetica Neue"/>
                <a:ea typeface="Helvetica Neue"/>
                <a:cs typeface="Helvetica Neue"/>
              </a:rPr>
              <a:t>github.com/shi1720/ibm-bob</a:t>
            </a:r>
          </a:p>
        </p:txBody>
      </p:sp>
      <p:sp>
        <p:nvSpPr>
          <p:cNvPr id="6" name="text-51">
            <a:extLst xmlns:a="http://schemas.openxmlformats.org/drawingml/2006/main">
              <a:ext uri="{FF2B5EF4-FFF2-40B4-BE49-F238E27FC236}">
                <a16:creationId xmlns:a16="http://schemas.microsoft.com/office/drawing/2014/main" id="{F9CB0BD3-6846-47A5-B1A0-8AAAA60FF541}"/>
              </a:ext>
            </a:extLst>
          </p:cNvPr>
          <p:cNvSpPr>
            <a:spLocks xmlns:a="http://schemas.openxmlformats.org/drawingml/2006/main" noGrp="1"/>
          </p:cNvSpPr>
          <p:nvPr/>
        </p:nvSpPr>
        <p:spPr>
          <a:xfrm xmlns:a="http://schemas.openxmlformats.org/drawingml/2006/main">
            <a:off x="733425" y="588645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BDBEB5"/>
                </a:solidFill>
                <a:latin typeface="Helvetica Neue"/>
                <a:ea typeface="Helvetica Neue"/>
                <a:cs typeface="Helvetica Neue"/>
              </a:defRPr>
            </a:pPr>
            <a:r>
              <a:rPr sz="1650" b="0">
                <a:solidFill>
                  <a:srgbClr val="BDBEB5"/>
                </a:solidFill>
                <a:latin typeface="Helvetica Neue"/>
                <a:ea typeface="Helvetica Neue"/>
                <a:cs typeface="Helvetica Neue"/>
              </a:rPr>
              <a:t>Shivam Gupta</a:t>
            </a:r>
          </a:p>
        </p:txBody>
      </p:sp>
    </p:spTree>
    <p:extLst>
      <p:ext uri="{BB962C8B-B14F-4D97-AF65-F5344CB8AC3E}">
        <p14:creationId xmlns:p14="http://schemas.microsoft.com/office/powerpoint/2010/main" val="202373041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2026-09-27T03:35:29.8390000Z</dcterms:created>
  <dcterms:modified xsi:type="dcterms:W3CDTF">2026-09-27T03:35:29.8390000Z</dcterms:modified>
</coreProperties>
</file>